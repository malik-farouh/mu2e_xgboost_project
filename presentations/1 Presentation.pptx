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70" r:id="rId4"/>
    <p:sldId id="271" r:id="rId5"/>
    <p:sldId id="258" r:id="rId6"/>
    <p:sldId id="259" r:id="rId7"/>
    <p:sldId id="261" r:id="rId8"/>
    <p:sldId id="260" r:id="rId9"/>
    <p:sldId id="262" r:id="rId10"/>
    <p:sldId id="272" r:id="rId11"/>
    <p:sldId id="264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D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46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568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E5F411-74BE-8F41-B65A-A9CF79DF1AC2}" type="doc">
      <dgm:prSet loTypeId="urn:microsoft.com/office/officeart/2005/8/layout/gear1" loCatId="" qsTypeId="urn:microsoft.com/office/officeart/2005/8/quickstyle/simple1" qsCatId="simple" csTypeId="urn:microsoft.com/office/officeart/2005/8/colors/accent1_2" csCatId="accent1" phldr="1"/>
      <dgm:spPr/>
    </dgm:pt>
    <dgm:pt modelId="{0B03A60B-80DD-DB4A-A96C-D01AFD2093C6}">
      <dgm:prSet phldrT="[Text]"/>
      <dgm:spPr/>
      <dgm:t>
        <a:bodyPr/>
        <a:lstStyle/>
        <a:p>
          <a:r>
            <a:rPr lang="en-US" dirty="0"/>
            <a:t>Learning Rate</a:t>
          </a:r>
        </a:p>
      </dgm:t>
    </dgm:pt>
    <dgm:pt modelId="{F625AF59-70DC-3848-9098-B8091F40E320}" type="parTrans" cxnId="{338F39D8-5396-CF48-B089-0E4BFC575BAD}">
      <dgm:prSet/>
      <dgm:spPr/>
      <dgm:t>
        <a:bodyPr/>
        <a:lstStyle/>
        <a:p>
          <a:endParaRPr lang="en-US"/>
        </a:p>
      </dgm:t>
    </dgm:pt>
    <dgm:pt modelId="{DFA314DA-9689-9048-AF38-FF412A51ADB0}" type="sibTrans" cxnId="{338F39D8-5396-CF48-B089-0E4BFC575BAD}">
      <dgm:prSet/>
      <dgm:spPr/>
      <dgm:t>
        <a:bodyPr/>
        <a:lstStyle/>
        <a:p>
          <a:endParaRPr lang="en-US"/>
        </a:p>
      </dgm:t>
    </dgm:pt>
    <dgm:pt modelId="{412205CC-080C-E84C-8A57-C04C4F556E3A}">
      <dgm:prSet phldrT="[Text]"/>
      <dgm:spPr/>
      <dgm:t>
        <a:bodyPr/>
        <a:lstStyle/>
        <a:p>
          <a:r>
            <a:rPr lang="en-US" dirty="0"/>
            <a:t>Max Depth</a:t>
          </a:r>
        </a:p>
      </dgm:t>
    </dgm:pt>
    <dgm:pt modelId="{9952B87E-3848-6B43-8BCF-5976755B0439}" type="parTrans" cxnId="{8D7107A6-27AC-EF4C-9738-FFCD77E32351}">
      <dgm:prSet/>
      <dgm:spPr/>
      <dgm:t>
        <a:bodyPr/>
        <a:lstStyle/>
        <a:p>
          <a:endParaRPr lang="en-US"/>
        </a:p>
      </dgm:t>
    </dgm:pt>
    <dgm:pt modelId="{788564A3-DF14-0246-B04D-FF7521199ABA}" type="sibTrans" cxnId="{8D7107A6-27AC-EF4C-9738-FFCD77E32351}">
      <dgm:prSet/>
      <dgm:spPr/>
      <dgm:t>
        <a:bodyPr/>
        <a:lstStyle/>
        <a:p>
          <a:endParaRPr lang="en-US"/>
        </a:p>
      </dgm:t>
    </dgm:pt>
    <dgm:pt modelId="{F49C1B11-86AC-CE46-AEA9-AA6A7319A51D}">
      <dgm:prSet phldrT="[Text]"/>
      <dgm:spPr/>
      <dgm:t>
        <a:bodyPr/>
        <a:lstStyle/>
        <a:p>
          <a:r>
            <a:rPr lang="en-US" dirty="0"/>
            <a:t># of Trees</a:t>
          </a:r>
        </a:p>
      </dgm:t>
    </dgm:pt>
    <dgm:pt modelId="{F9FF8D6C-FB75-2E47-8E6E-FD03B446A9A5}" type="parTrans" cxnId="{96E17F87-4799-894A-8111-880D0E8F28E9}">
      <dgm:prSet/>
      <dgm:spPr/>
      <dgm:t>
        <a:bodyPr/>
        <a:lstStyle/>
        <a:p>
          <a:endParaRPr lang="en-US"/>
        </a:p>
      </dgm:t>
    </dgm:pt>
    <dgm:pt modelId="{00A5C6E5-EEE7-9640-B520-CAC374662BB0}" type="sibTrans" cxnId="{96E17F87-4799-894A-8111-880D0E8F28E9}">
      <dgm:prSet/>
      <dgm:spPr/>
      <dgm:t>
        <a:bodyPr/>
        <a:lstStyle/>
        <a:p>
          <a:endParaRPr lang="en-US"/>
        </a:p>
      </dgm:t>
    </dgm:pt>
    <dgm:pt modelId="{E270254A-6335-C840-8502-16F23553E0F4}" type="pres">
      <dgm:prSet presAssocID="{25E5F411-74BE-8F41-B65A-A9CF79DF1AC2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61C85135-E769-0543-AD89-680A0DE55936}" type="pres">
      <dgm:prSet presAssocID="{0B03A60B-80DD-DB4A-A96C-D01AFD2093C6}" presName="gear1" presStyleLbl="node1" presStyleIdx="0" presStyleCnt="3">
        <dgm:presLayoutVars>
          <dgm:chMax val="1"/>
          <dgm:bulletEnabled val="1"/>
        </dgm:presLayoutVars>
      </dgm:prSet>
      <dgm:spPr/>
    </dgm:pt>
    <dgm:pt modelId="{B21C0C3C-D096-494A-A2B6-15B96FB62FAA}" type="pres">
      <dgm:prSet presAssocID="{0B03A60B-80DD-DB4A-A96C-D01AFD2093C6}" presName="gear1srcNode" presStyleLbl="node1" presStyleIdx="0" presStyleCnt="3"/>
      <dgm:spPr/>
    </dgm:pt>
    <dgm:pt modelId="{E11D9F53-8BCF-3D4D-8401-CB1431F1473E}" type="pres">
      <dgm:prSet presAssocID="{0B03A60B-80DD-DB4A-A96C-D01AFD2093C6}" presName="gear1dstNode" presStyleLbl="node1" presStyleIdx="0" presStyleCnt="3"/>
      <dgm:spPr/>
    </dgm:pt>
    <dgm:pt modelId="{2FF02D46-6B23-294C-A4CB-A21F95C24621}" type="pres">
      <dgm:prSet presAssocID="{412205CC-080C-E84C-8A57-C04C4F556E3A}" presName="gear2" presStyleLbl="node1" presStyleIdx="1" presStyleCnt="3">
        <dgm:presLayoutVars>
          <dgm:chMax val="1"/>
          <dgm:bulletEnabled val="1"/>
        </dgm:presLayoutVars>
      </dgm:prSet>
      <dgm:spPr/>
    </dgm:pt>
    <dgm:pt modelId="{44D7994A-F5A9-2E48-9456-29933E40276C}" type="pres">
      <dgm:prSet presAssocID="{412205CC-080C-E84C-8A57-C04C4F556E3A}" presName="gear2srcNode" presStyleLbl="node1" presStyleIdx="1" presStyleCnt="3"/>
      <dgm:spPr/>
    </dgm:pt>
    <dgm:pt modelId="{4FB0C8CB-AC72-004E-8539-AF9B4C80E511}" type="pres">
      <dgm:prSet presAssocID="{412205CC-080C-E84C-8A57-C04C4F556E3A}" presName="gear2dstNode" presStyleLbl="node1" presStyleIdx="1" presStyleCnt="3"/>
      <dgm:spPr/>
    </dgm:pt>
    <dgm:pt modelId="{614433E5-9A11-AC4C-BD3E-8256C39DDE45}" type="pres">
      <dgm:prSet presAssocID="{F49C1B11-86AC-CE46-AEA9-AA6A7319A51D}" presName="gear3" presStyleLbl="node1" presStyleIdx="2" presStyleCnt="3"/>
      <dgm:spPr/>
    </dgm:pt>
    <dgm:pt modelId="{2B54F4A4-03D8-9348-BE7C-F1CA06FC6279}" type="pres">
      <dgm:prSet presAssocID="{F49C1B11-86AC-CE46-AEA9-AA6A7319A51D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63DABEF0-E6EA-0348-B7A4-C5C0364A9D32}" type="pres">
      <dgm:prSet presAssocID="{F49C1B11-86AC-CE46-AEA9-AA6A7319A51D}" presName="gear3srcNode" presStyleLbl="node1" presStyleIdx="2" presStyleCnt="3"/>
      <dgm:spPr/>
    </dgm:pt>
    <dgm:pt modelId="{EADC3896-743A-CF4A-B244-3438DFEFF5F0}" type="pres">
      <dgm:prSet presAssocID="{F49C1B11-86AC-CE46-AEA9-AA6A7319A51D}" presName="gear3dstNode" presStyleLbl="node1" presStyleIdx="2" presStyleCnt="3"/>
      <dgm:spPr/>
    </dgm:pt>
    <dgm:pt modelId="{68B3990E-EE70-2049-87E6-9C9F314D65C4}" type="pres">
      <dgm:prSet presAssocID="{DFA314DA-9689-9048-AF38-FF412A51ADB0}" presName="connector1" presStyleLbl="sibTrans2D1" presStyleIdx="0" presStyleCnt="3" custFlipHor="1" custScaleX="15277" custScaleY="1407"/>
      <dgm:spPr/>
    </dgm:pt>
    <dgm:pt modelId="{393C9B15-B342-844E-9456-349471C6096A}" type="pres">
      <dgm:prSet presAssocID="{788564A3-DF14-0246-B04D-FF7521199ABA}" presName="connector2" presStyleLbl="sibTrans2D1" presStyleIdx="1" presStyleCnt="3" custFlipVert="0" custFlipHor="1" custScaleX="1937" custScaleY="10830"/>
      <dgm:spPr/>
    </dgm:pt>
    <dgm:pt modelId="{D2D219F5-8471-094B-A445-8A39C595B9A3}" type="pres">
      <dgm:prSet presAssocID="{00A5C6E5-EEE7-9640-B520-CAC374662BB0}" presName="connector3" presStyleLbl="sibTrans2D1" presStyleIdx="2" presStyleCnt="3" custAng="8388762" custScaleX="2154" custScaleY="13178" custLinFactNeighborX="4301" custLinFactNeighborY="-2458"/>
      <dgm:spPr/>
    </dgm:pt>
  </dgm:ptLst>
  <dgm:cxnLst>
    <dgm:cxn modelId="{395DE90A-5C5D-4C4F-9F7E-6926105E0F3E}" type="presOf" srcId="{F49C1B11-86AC-CE46-AEA9-AA6A7319A51D}" destId="{63DABEF0-E6EA-0348-B7A4-C5C0364A9D32}" srcOrd="2" destOrd="0" presId="urn:microsoft.com/office/officeart/2005/8/layout/gear1"/>
    <dgm:cxn modelId="{6B6E7416-4F2D-5448-9A45-40362A8E2A46}" type="presOf" srcId="{0B03A60B-80DD-DB4A-A96C-D01AFD2093C6}" destId="{E11D9F53-8BCF-3D4D-8401-CB1431F1473E}" srcOrd="2" destOrd="0" presId="urn:microsoft.com/office/officeart/2005/8/layout/gear1"/>
    <dgm:cxn modelId="{ECDD8919-0EF4-FC48-A9BF-26B6CFB98A97}" type="presOf" srcId="{F49C1B11-86AC-CE46-AEA9-AA6A7319A51D}" destId="{2B54F4A4-03D8-9348-BE7C-F1CA06FC6279}" srcOrd="1" destOrd="0" presId="urn:microsoft.com/office/officeart/2005/8/layout/gear1"/>
    <dgm:cxn modelId="{B7B35A23-1D90-7240-AB34-8AD04BD83F37}" type="presOf" srcId="{788564A3-DF14-0246-B04D-FF7521199ABA}" destId="{393C9B15-B342-844E-9456-349471C6096A}" srcOrd="0" destOrd="0" presId="urn:microsoft.com/office/officeart/2005/8/layout/gear1"/>
    <dgm:cxn modelId="{84567039-1D32-694D-A5E4-75224B860EC5}" type="presOf" srcId="{412205CC-080C-E84C-8A57-C04C4F556E3A}" destId="{4FB0C8CB-AC72-004E-8539-AF9B4C80E511}" srcOrd="2" destOrd="0" presId="urn:microsoft.com/office/officeart/2005/8/layout/gear1"/>
    <dgm:cxn modelId="{0C85DA55-E9EF-454F-BE34-FA157612A42D}" type="presOf" srcId="{0B03A60B-80DD-DB4A-A96C-D01AFD2093C6}" destId="{B21C0C3C-D096-494A-A2B6-15B96FB62FAA}" srcOrd="1" destOrd="0" presId="urn:microsoft.com/office/officeart/2005/8/layout/gear1"/>
    <dgm:cxn modelId="{8F107F56-B8B3-E242-9325-F3E3F224354C}" type="presOf" srcId="{F49C1B11-86AC-CE46-AEA9-AA6A7319A51D}" destId="{EADC3896-743A-CF4A-B244-3438DFEFF5F0}" srcOrd="3" destOrd="0" presId="urn:microsoft.com/office/officeart/2005/8/layout/gear1"/>
    <dgm:cxn modelId="{A3EBB87E-1155-7244-96C4-9CFE0360F3A4}" type="presOf" srcId="{F49C1B11-86AC-CE46-AEA9-AA6A7319A51D}" destId="{614433E5-9A11-AC4C-BD3E-8256C39DDE45}" srcOrd="0" destOrd="0" presId="urn:microsoft.com/office/officeart/2005/8/layout/gear1"/>
    <dgm:cxn modelId="{78737B82-A4C2-3849-A9DD-A9A5EFA37747}" type="presOf" srcId="{DFA314DA-9689-9048-AF38-FF412A51ADB0}" destId="{68B3990E-EE70-2049-87E6-9C9F314D65C4}" srcOrd="0" destOrd="0" presId="urn:microsoft.com/office/officeart/2005/8/layout/gear1"/>
    <dgm:cxn modelId="{96E17F87-4799-894A-8111-880D0E8F28E9}" srcId="{25E5F411-74BE-8F41-B65A-A9CF79DF1AC2}" destId="{F49C1B11-86AC-CE46-AEA9-AA6A7319A51D}" srcOrd="2" destOrd="0" parTransId="{F9FF8D6C-FB75-2E47-8E6E-FD03B446A9A5}" sibTransId="{00A5C6E5-EEE7-9640-B520-CAC374662BB0}"/>
    <dgm:cxn modelId="{8D7107A6-27AC-EF4C-9738-FFCD77E32351}" srcId="{25E5F411-74BE-8F41-B65A-A9CF79DF1AC2}" destId="{412205CC-080C-E84C-8A57-C04C4F556E3A}" srcOrd="1" destOrd="0" parTransId="{9952B87E-3848-6B43-8BCF-5976755B0439}" sibTransId="{788564A3-DF14-0246-B04D-FF7521199ABA}"/>
    <dgm:cxn modelId="{797136B2-A53E-A44F-A941-C5A6E851C330}" type="presOf" srcId="{25E5F411-74BE-8F41-B65A-A9CF79DF1AC2}" destId="{E270254A-6335-C840-8502-16F23553E0F4}" srcOrd="0" destOrd="0" presId="urn:microsoft.com/office/officeart/2005/8/layout/gear1"/>
    <dgm:cxn modelId="{338F39D8-5396-CF48-B089-0E4BFC575BAD}" srcId="{25E5F411-74BE-8F41-B65A-A9CF79DF1AC2}" destId="{0B03A60B-80DD-DB4A-A96C-D01AFD2093C6}" srcOrd="0" destOrd="0" parTransId="{F625AF59-70DC-3848-9098-B8091F40E320}" sibTransId="{DFA314DA-9689-9048-AF38-FF412A51ADB0}"/>
    <dgm:cxn modelId="{30446BE1-0ECC-BF4F-A877-34B7202DAB79}" type="presOf" srcId="{412205CC-080C-E84C-8A57-C04C4F556E3A}" destId="{2FF02D46-6B23-294C-A4CB-A21F95C24621}" srcOrd="0" destOrd="0" presId="urn:microsoft.com/office/officeart/2005/8/layout/gear1"/>
    <dgm:cxn modelId="{FD3DF1E9-0DBA-9243-9706-16608E499F25}" type="presOf" srcId="{412205CC-080C-E84C-8A57-C04C4F556E3A}" destId="{44D7994A-F5A9-2E48-9456-29933E40276C}" srcOrd="1" destOrd="0" presId="urn:microsoft.com/office/officeart/2005/8/layout/gear1"/>
    <dgm:cxn modelId="{40DDF6ED-4ED4-DE44-BA77-0CAFFF6DB883}" type="presOf" srcId="{00A5C6E5-EEE7-9640-B520-CAC374662BB0}" destId="{D2D219F5-8471-094B-A445-8A39C595B9A3}" srcOrd="0" destOrd="0" presId="urn:microsoft.com/office/officeart/2005/8/layout/gear1"/>
    <dgm:cxn modelId="{0EE397F7-487B-6C47-89F0-DE98B193DBB5}" type="presOf" srcId="{0B03A60B-80DD-DB4A-A96C-D01AFD2093C6}" destId="{61C85135-E769-0543-AD89-680A0DE55936}" srcOrd="0" destOrd="0" presId="urn:microsoft.com/office/officeart/2005/8/layout/gear1"/>
    <dgm:cxn modelId="{CF52CFB8-3752-394E-AED7-F68B7FCC1FC6}" type="presParOf" srcId="{E270254A-6335-C840-8502-16F23553E0F4}" destId="{61C85135-E769-0543-AD89-680A0DE55936}" srcOrd="0" destOrd="0" presId="urn:microsoft.com/office/officeart/2005/8/layout/gear1"/>
    <dgm:cxn modelId="{4DC1A561-BC23-1F45-855C-AE20B6E5114C}" type="presParOf" srcId="{E270254A-6335-C840-8502-16F23553E0F4}" destId="{B21C0C3C-D096-494A-A2B6-15B96FB62FAA}" srcOrd="1" destOrd="0" presId="urn:microsoft.com/office/officeart/2005/8/layout/gear1"/>
    <dgm:cxn modelId="{B0E92E84-08E4-C245-99BA-5E651FD9C1A9}" type="presParOf" srcId="{E270254A-6335-C840-8502-16F23553E0F4}" destId="{E11D9F53-8BCF-3D4D-8401-CB1431F1473E}" srcOrd="2" destOrd="0" presId="urn:microsoft.com/office/officeart/2005/8/layout/gear1"/>
    <dgm:cxn modelId="{65920893-3F2A-3442-BEFB-EA436F7B16C5}" type="presParOf" srcId="{E270254A-6335-C840-8502-16F23553E0F4}" destId="{2FF02D46-6B23-294C-A4CB-A21F95C24621}" srcOrd="3" destOrd="0" presId="urn:microsoft.com/office/officeart/2005/8/layout/gear1"/>
    <dgm:cxn modelId="{A0B3A39C-4FAB-904C-9B8F-47E4A959E038}" type="presParOf" srcId="{E270254A-6335-C840-8502-16F23553E0F4}" destId="{44D7994A-F5A9-2E48-9456-29933E40276C}" srcOrd="4" destOrd="0" presId="urn:microsoft.com/office/officeart/2005/8/layout/gear1"/>
    <dgm:cxn modelId="{C8035FA5-C632-544C-9388-60BB5F28FE6C}" type="presParOf" srcId="{E270254A-6335-C840-8502-16F23553E0F4}" destId="{4FB0C8CB-AC72-004E-8539-AF9B4C80E511}" srcOrd="5" destOrd="0" presId="urn:microsoft.com/office/officeart/2005/8/layout/gear1"/>
    <dgm:cxn modelId="{EFC375EB-9E62-894B-BD35-EA61FC1A2EB4}" type="presParOf" srcId="{E270254A-6335-C840-8502-16F23553E0F4}" destId="{614433E5-9A11-AC4C-BD3E-8256C39DDE45}" srcOrd="6" destOrd="0" presId="urn:microsoft.com/office/officeart/2005/8/layout/gear1"/>
    <dgm:cxn modelId="{440504C0-736A-5246-A826-6A3B708964C1}" type="presParOf" srcId="{E270254A-6335-C840-8502-16F23553E0F4}" destId="{2B54F4A4-03D8-9348-BE7C-F1CA06FC6279}" srcOrd="7" destOrd="0" presId="urn:microsoft.com/office/officeart/2005/8/layout/gear1"/>
    <dgm:cxn modelId="{2954BD9C-94FF-9743-AAAD-347CE6BDB944}" type="presParOf" srcId="{E270254A-6335-C840-8502-16F23553E0F4}" destId="{63DABEF0-E6EA-0348-B7A4-C5C0364A9D32}" srcOrd="8" destOrd="0" presId="urn:microsoft.com/office/officeart/2005/8/layout/gear1"/>
    <dgm:cxn modelId="{25A08818-3C88-8148-A7EF-5DE29EA31857}" type="presParOf" srcId="{E270254A-6335-C840-8502-16F23553E0F4}" destId="{EADC3896-743A-CF4A-B244-3438DFEFF5F0}" srcOrd="9" destOrd="0" presId="urn:microsoft.com/office/officeart/2005/8/layout/gear1"/>
    <dgm:cxn modelId="{58201AEF-BF1E-7C44-B156-AC256305DD70}" type="presParOf" srcId="{E270254A-6335-C840-8502-16F23553E0F4}" destId="{68B3990E-EE70-2049-87E6-9C9F314D65C4}" srcOrd="10" destOrd="0" presId="urn:microsoft.com/office/officeart/2005/8/layout/gear1"/>
    <dgm:cxn modelId="{0BB9B657-5D78-624D-B763-7959F39A6DAF}" type="presParOf" srcId="{E270254A-6335-C840-8502-16F23553E0F4}" destId="{393C9B15-B342-844E-9456-349471C6096A}" srcOrd="11" destOrd="0" presId="urn:microsoft.com/office/officeart/2005/8/layout/gear1"/>
    <dgm:cxn modelId="{05F73F0D-D79F-7846-91FE-DF36E8A7F792}" type="presParOf" srcId="{E270254A-6335-C840-8502-16F23553E0F4}" destId="{D2D219F5-8471-094B-A445-8A39C595B9A3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C85135-E769-0543-AD89-680A0DE55936}">
      <dsp:nvSpPr>
        <dsp:cNvPr id="0" name=""/>
        <dsp:cNvSpPr/>
      </dsp:nvSpPr>
      <dsp:spPr>
        <a:xfrm>
          <a:off x="2524236" y="1924897"/>
          <a:ext cx="2352653" cy="2352653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Learning Rate</a:t>
          </a:r>
        </a:p>
      </dsp:txBody>
      <dsp:txXfrm>
        <a:off x="2997224" y="2475995"/>
        <a:ext cx="1406677" cy="1209312"/>
      </dsp:txXfrm>
    </dsp:sp>
    <dsp:sp modelId="{2FF02D46-6B23-294C-A4CB-A21F95C24621}">
      <dsp:nvSpPr>
        <dsp:cNvPr id="0" name=""/>
        <dsp:cNvSpPr/>
      </dsp:nvSpPr>
      <dsp:spPr>
        <a:xfrm>
          <a:off x="1155420" y="1368816"/>
          <a:ext cx="1711020" cy="1711020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Max Depth</a:t>
          </a:r>
        </a:p>
      </dsp:txBody>
      <dsp:txXfrm>
        <a:off x="1586174" y="1802174"/>
        <a:ext cx="849512" cy="844304"/>
      </dsp:txXfrm>
    </dsp:sp>
    <dsp:sp modelId="{614433E5-9A11-AC4C-BD3E-8256C39DDE45}">
      <dsp:nvSpPr>
        <dsp:cNvPr id="0" name=""/>
        <dsp:cNvSpPr/>
      </dsp:nvSpPr>
      <dsp:spPr>
        <a:xfrm rot="20700000">
          <a:off x="2113766" y="188386"/>
          <a:ext cx="1676450" cy="1676450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# of Trees</a:t>
          </a:r>
        </a:p>
      </dsp:txBody>
      <dsp:txXfrm rot="-20700000">
        <a:off x="2481461" y="556081"/>
        <a:ext cx="941061" cy="941061"/>
      </dsp:txXfrm>
    </dsp:sp>
    <dsp:sp modelId="{68B3990E-EE70-2049-87E6-9C9F314D65C4}">
      <dsp:nvSpPr>
        <dsp:cNvPr id="0" name=""/>
        <dsp:cNvSpPr/>
      </dsp:nvSpPr>
      <dsp:spPr>
        <a:xfrm flipH="1">
          <a:off x="3619919" y="3053880"/>
          <a:ext cx="460050" cy="42370"/>
        </a:xfrm>
        <a:prstGeom prst="circularArrow">
          <a:avLst>
            <a:gd name="adj1" fmla="val 4688"/>
            <a:gd name="adj2" fmla="val 299029"/>
            <a:gd name="adj3" fmla="val 2518178"/>
            <a:gd name="adj4" fmla="val 15856949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3C9B15-B342-844E-9456-349471C6096A}">
      <dsp:nvSpPr>
        <dsp:cNvPr id="0" name=""/>
        <dsp:cNvSpPr/>
      </dsp:nvSpPr>
      <dsp:spPr>
        <a:xfrm flipH="1">
          <a:off x="1925195" y="1965380"/>
          <a:ext cx="42380" cy="236956"/>
        </a:xfrm>
        <a:prstGeom prst="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219F5-8471-094B-A445-8A39C595B9A3}">
      <dsp:nvSpPr>
        <dsp:cNvPr id="0" name=""/>
        <dsp:cNvSpPr/>
      </dsp:nvSpPr>
      <dsp:spPr>
        <a:xfrm rot="8388762">
          <a:off x="2981577" y="786933"/>
          <a:ext cx="50814" cy="310878"/>
        </a:xfrm>
        <a:prstGeom prst="left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75255-9A13-6249-84D6-1EE5F17F643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5FA2A-FCB2-DB4E-8D90-9DEBC7BB1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79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4BEFE-CAC4-CE40-9C83-705C2F56BF0A}" type="datetime1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31027-6C92-2640-A18A-FED3FDF078C2}" type="datetime1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C995C-373D-8145-BA71-FDBF7315A03E}" type="datetime1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CA914-098B-4146-89A1-5889D9D8F8C0}" type="datetime1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12FFE-596F-3A46-9999-C2E258C6DC66}" type="datetime1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6A4B-C4F3-3B4C-9CC8-085C40772B0F}" type="datetime1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4EDC8-5091-AF44-976A-EC40A365B5CA}" type="datetime1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9BC3F-8E94-3645-BFFE-93DB252818F8}" type="datetime1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6E08F-80FA-A742-A6DE-535B535AC095}" type="datetime1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80218-B7E6-9240-81F8-0E1132BCCEF7}" type="datetime1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7E6F-1387-A44A-AE0B-305A0511BE3E}" type="datetime1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E7EDE-7DBE-594C-9084-A21B836CC75B}" type="datetime1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05" y="-488597"/>
            <a:ext cx="11582646" cy="272934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b="1" dirty="0">
                <a:ea typeface="+mj-lt"/>
                <a:cs typeface="+mj-lt"/>
              </a:rPr>
              <a:t>Application of Boosted Decision Trees for High-Quality Track Selection in the Mu2e Experiment</a:t>
            </a:r>
            <a:endParaRPr lang="en-US" sz="4400" b="1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D34E6D-B810-373B-435D-0E502EFDBD41}"/>
              </a:ext>
            </a:extLst>
          </p:cNvPr>
          <p:cNvSpPr txBox="1"/>
          <p:nvPr/>
        </p:nvSpPr>
        <p:spPr>
          <a:xfrm>
            <a:off x="0" y="4155416"/>
            <a:ext cx="9035266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ea typeface="+mn-lt"/>
                <a:cs typeface="+mn-lt"/>
              </a:rPr>
              <a:t>    Malik Farouh – City College of CUNY</a:t>
            </a:r>
          </a:p>
          <a:p>
            <a:pPr algn="ctr"/>
            <a:r>
              <a:rPr lang="en-US" sz="2800" dirty="0">
                <a:ea typeface="+mn-lt"/>
                <a:cs typeface="+mn-lt"/>
              </a:rPr>
              <a:t>July 2025-Present</a:t>
            </a:r>
          </a:p>
          <a:p>
            <a:pPr algn="ctr"/>
            <a:endParaRPr lang="en-US" sz="3600" b="1" dirty="0">
              <a:ea typeface="+mn-lt"/>
              <a:cs typeface="+mn-lt"/>
            </a:endParaRPr>
          </a:p>
          <a:p>
            <a:r>
              <a:rPr lang="en-US" sz="3600" b="1" dirty="0"/>
              <a:t>    Andrew Edmonds – York College of CUNY</a:t>
            </a:r>
          </a:p>
        </p:txBody>
      </p:sp>
      <p:pic>
        <p:nvPicPr>
          <p:cNvPr id="4" name="Picture 3" descr="A white sphere with black lines and a black circle with a black line&#10;&#10;AI-generated content may be incorrect.">
            <a:extLst>
              <a:ext uri="{FF2B5EF4-FFF2-40B4-BE49-F238E27FC236}">
                <a16:creationId xmlns:a16="http://schemas.microsoft.com/office/drawing/2014/main" id="{1E786662-B7EF-C40E-56BA-AEB3BD237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579" y="1426071"/>
            <a:ext cx="3850841" cy="2384262"/>
          </a:xfrm>
          <a:prstGeom prst="rect">
            <a:avLst/>
          </a:prstGeom>
        </p:spPr>
      </p:pic>
      <p:pic>
        <p:nvPicPr>
          <p:cNvPr id="1028" name="Picture 4" descr="Out at CCNY | The City College of New York">
            <a:extLst>
              <a:ext uri="{FF2B5EF4-FFF2-40B4-BE49-F238E27FC236}">
                <a16:creationId xmlns:a16="http://schemas.microsoft.com/office/drawing/2014/main" id="{7D98CD34-2244-52CE-088F-8DB122893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7200" y="3898863"/>
            <a:ext cx="1210577" cy="119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DAB244-9295-8447-31C5-AD3B6240D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4250" y="6433457"/>
            <a:ext cx="591458" cy="424543"/>
          </a:xfrm>
        </p:spPr>
        <p:txBody>
          <a:bodyPr/>
          <a:lstStyle/>
          <a:p>
            <a:fld id="{330EA680-D336-4FF7-8B7A-9848BB0A1C32}" type="slidenum">
              <a:rPr lang="en-US" sz="1800" b="1" smtClean="0">
                <a:solidFill>
                  <a:schemeClr val="tx1"/>
                </a:solidFill>
              </a:rPr>
              <a:t>1</a:t>
            </a:fld>
            <a:endParaRPr lang="en-US" sz="1800" b="1" dirty="0">
              <a:solidFill>
                <a:schemeClr val="tx1"/>
              </a:solidFill>
            </a:endParaRPr>
          </a:p>
        </p:txBody>
      </p:sp>
      <p:pic>
        <p:nvPicPr>
          <p:cNvPr id="1032" name="Picture 8" descr="York College Now STEM Research Academy - NYC Science ...">
            <a:extLst>
              <a:ext uri="{FF2B5EF4-FFF2-40B4-BE49-F238E27FC236}">
                <a16:creationId xmlns:a16="http://schemas.microsoft.com/office/drawing/2014/main" id="{038D972C-AFD3-402D-245D-D43EA65A3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591" y="5183299"/>
            <a:ext cx="3294280" cy="1843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0322F-B010-C843-9291-8D22CEEE4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95" y="-104368"/>
            <a:ext cx="8069208" cy="837945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What is the problem?</a:t>
            </a:r>
          </a:p>
        </p:txBody>
      </p:sp>
      <p:pic>
        <p:nvPicPr>
          <p:cNvPr id="6" name="Picture 5" descr="A graph of energy and energy&#10;&#10;AI-generated content may be incorrect.">
            <a:extLst>
              <a:ext uri="{FF2B5EF4-FFF2-40B4-BE49-F238E27FC236}">
                <a16:creationId xmlns:a16="http://schemas.microsoft.com/office/drawing/2014/main" id="{714FECF6-375D-42AE-DB28-267F16FE5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" r="916" b="717"/>
          <a:stretch>
            <a:fillRect/>
          </a:stretch>
        </p:blipFill>
        <p:spPr>
          <a:xfrm>
            <a:off x="5196114" y="1419543"/>
            <a:ext cx="6995885" cy="4018913"/>
          </a:xfrm>
          <a:prstGeom prst="rect">
            <a:avLst/>
          </a:prstGeom>
          <a:effectLst>
            <a:glow rad="127000">
              <a:schemeClr val="accent1"/>
            </a:glow>
            <a:softEdge rad="0"/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59312A-E9F9-A82E-F122-8F3BEE401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3656" y="6564086"/>
            <a:ext cx="348343" cy="293914"/>
          </a:xfrm>
        </p:spPr>
        <p:txBody>
          <a:bodyPr/>
          <a:lstStyle/>
          <a:p>
            <a:fld id="{330EA680-D336-4FF7-8B7A-9848BB0A1C32}" type="slidenum">
              <a:rPr lang="en-US" sz="2000" b="1" smtClean="0">
                <a:solidFill>
                  <a:schemeClr val="tx1"/>
                </a:solidFill>
              </a:rPr>
              <a:t>2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3604E70-F2D0-FC14-886B-E7EE9CF4A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25979"/>
            <a:ext cx="5312229" cy="4471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Track quality selection is critical to reject </a:t>
            </a:r>
            <a:r>
              <a:rPr lang="en-US" sz="2400" dirty="0"/>
              <a:t>mis-reconstructed backgrounds that can fake conversion electrons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Clear 105 MeV signal peak above steeply falling DIO background signal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Finite detector resolution causes DIO tail to extend into the signal region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5868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4687E-683B-577B-129C-55ABFFED9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3" y="-326619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Momentum Resolution &amp; Used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1A7B8-4C74-EBD5-2947-51321C74F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1800" b="1" smtClean="0">
                <a:solidFill>
                  <a:schemeClr val="tx1"/>
                </a:solidFill>
              </a:rPr>
              <a:t>3</a:t>
            </a:fld>
            <a:endParaRPr lang="en-US" sz="18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A8996400-2763-2BFB-B7EF-33029F40C54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-2" y="534991"/>
                <a:ext cx="6250459" cy="3016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kumimoji="0" lang="ar-AE" altLang="en-US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kumimoji="0" lang="ar-AE" altLang="en-US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0" lang="ar-AE" altLang="en-US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0" lang="ar-AE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ar-AE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ar-AE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𝑟𝑒𝑐𝑜</m:t>
                        </m:r>
                        <m:r>
                          <a:rPr kumimoji="0" lang="ar-AE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kumimoji="0" lang="ar-AE" altLang="en-US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kumimoji="0" lang="ar-AE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ar-AE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ar-AE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𝑡𝑟𝑢𝑒</m:t>
                        </m:r>
                      </m:sub>
                    </m:sSub>
                  </m:oMath>
                </a14:m>
                <a:endParaRPr lang="ar-AE" sz="3200" dirty="0"/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dirty="0">
                    <a:cs typeface="Arial" panose="020B0604020202020204" pitchFamily="34" charset="0"/>
                  </a:rPr>
                  <a:t>Good tracks have </a:t>
                </a:r>
                <a14:m>
                  <m:oMath xmlns:m="http://schemas.openxmlformats.org/officeDocument/2006/math">
                    <m:r>
                      <a:rPr lang="en-US" alt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>
                    <a:cs typeface="Arial" panose="020B0604020202020204" pitchFamily="34" charset="0"/>
                  </a:rPr>
                  <a:t> &lt; 250 keV/c and bad tracks have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cs typeface="Arial" panose="020B0604020202020204" pitchFamily="34" charset="0"/>
                  </a:rPr>
                  <a:t> &gt; 700 keV/c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Bad tracks populate the tails with poor momentum resolution. 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400" dirty="0"/>
                  <a:t>Tail tracks can mimic signals, so we need track-quality selection.</a:t>
                </a: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A8996400-2763-2BFB-B7EF-33029F40C5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-2" y="534991"/>
                <a:ext cx="6250459" cy="3016210"/>
              </a:xfrm>
              <a:prstGeom prst="rect">
                <a:avLst/>
              </a:prstGeom>
              <a:blipFill>
                <a:blip r:embed="rId2"/>
                <a:stretch>
                  <a:fillRect l="-1826" t="-210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218C46-248A-756E-47B5-E816A9D68ED9}"/>
              </a:ext>
            </a:extLst>
          </p:cNvPr>
          <p:cNvCxnSpPr>
            <a:cxnSpLocks/>
          </p:cNvCxnSpPr>
          <p:nvPr/>
        </p:nvCxnSpPr>
        <p:spPr>
          <a:xfrm>
            <a:off x="5762171" y="1494971"/>
            <a:ext cx="0" cy="53126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9DA09AE-887F-6981-4C78-BF580B8AF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590129"/>
              </p:ext>
            </p:extLst>
          </p:nvPr>
        </p:nvGraphicFramePr>
        <p:xfrm>
          <a:off x="5892803" y="3146132"/>
          <a:ext cx="6134874" cy="334674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96319">
                  <a:extLst>
                    <a:ext uri="{9D8B030D-6E8A-4147-A177-3AD203B41FA5}">
                      <a16:colId xmlns:a16="http://schemas.microsoft.com/office/drawing/2014/main" val="2964153813"/>
                    </a:ext>
                  </a:extLst>
                </a:gridCol>
                <a:gridCol w="4838555">
                  <a:extLst>
                    <a:ext uri="{9D8B030D-6E8A-4147-A177-3AD203B41FA5}">
                      <a16:colId xmlns:a16="http://schemas.microsoft.com/office/drawing/2014/main" val="3969622946"/>
                    </a:ext>
                  </a:extLst>
                </a:gridCol>
              </a:tblGrid>
              <a:tr h="37076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Brief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70981"/>
                  </a:ext>
                </a:extLst>
              </a:tr>
              <a:tr h="370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effectLst/>
                        </a:rPr>
                        <a:t>nactive</a:t>
                      </a:r>
                      <a:endParaRPr lang="en-US" sz="2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Number of hits used in track 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629337"/>
                  </a:ext>
                </a:extLst>
              </a:tr>
              <a:tr h="370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effectLst/>
                        </a:rPr>
                        <a:t>factive</a:t>
                      </a:r>
                      <a:endParaRPr lang="en-US" sz="2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Fraction of hits successfully used in 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208463"/>
                  </a:ext>
                </a:extLst>
              </a:tr>
              <a:tr h="370764">
                <a:tc>
                  <a:txBody>
                    <a:bodyPr/>
                    <a:lstStyle/>
                    <a:p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effectLst/>
                        </a:rPr>
                        <a:t>fambig</a:t>
                      </a:r>
                      <a:endParaRPr lang="en-US" sz="2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Fraction of hits with left-right ambiguities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512064"/>
                  </a:ext>
                </a:extLst>
              </a:tr>
              <a:tr h="370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effectLst/>
                        </a:rPr>
                        <a:t>fstraws</a:t>
                      </a:r>
                      <a:endParaRPr lang="en-US" sz="2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Fraction of straws hit along track 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184870"/>
                  </a:ext>
                </a:extLst>
              </a:tr>
              <a:tr h="370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</a:rPr>
                        <a:t>t0err</a:t>
                      </a:r>
                      <a:endParaRPr lang="en-US" sz="2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Uncertainty on track timing parameter</a:t>
                      </a:r>
                      <a:endParaRPr lang="en-US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041153"/>
                  </a:ext>
                </a:extLst>
              </a:tr>
              <a:tr h="370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effectLst/>
                        </a:rPr>
                        <a:t>fitcon</a:t>
                      </a:r>
                      <a:endParaRPr lang="en-US" sz="2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Fit consistency (</a:t>
                      </a:r>
                      <a:r>
                        <a:rPr lang="el-GR" sz="2000" dirty="0"/>
                        <a:t>χ²-</a:t>
                      </a:r>
                      <a:r>
                        <a:rPr lang="en-US" sz="2000" dirty="0"/>
                        <a:t>based quality metric)</a:t>
                      </a:r>
                      <a:endParaRPr lang="en-US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803468"/>
                  </a:ext>
                </a:extLst>
              </a:tr>
              <a:tr h="5730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effectLst/>
                        </a:rPr>
                        <a:t>momerr</a:t>
                      </a:r>
                      <a:endParaRPr lang="en-US" sz="2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Uncertainty on reconstructed momentum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294769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72D55ED-FA14-0666-BCEF-848B8065A1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12" t="-1596" r="1312" b="1596"/>
          <a:stretch>
            <a:fillRect/>
          </a:stretch>
        </p:blipFill>
        <p:spPr>
          <a:xfrm>
            <a:off x="274320" y="3108960"/>
            <a:ext cx="5080239" cy="3779837"/>
          </a:xfrm>
          <a:prstGeom prst="rect">
            <a:avLst/>
          </a:prstGeom>
        </p:spPr>
      </p:pic>
      <p:pic>
        <p:nvPicPr>
          <p:cNvPr id="7" name="Picture 6" descr="A blue and red spiral with black lines&#10;&#10;AI-generated content may be incorrect.">
            <a:extLst>
              <a:ext uri="{FF2B5EF4-FFF2-40B4-BE49-F238E27FC236}">
                <a16:creationId xmlns:a16="http://schemas.microsoft.com/office/drawing/2014/main" id="{69E3DEAD-3DBD-469B-5B65-BCCD179F3D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965" b="9882"/>
          <a:stretch>
            <a:fillRect/>
          </a:stretch>
        </p:blipFill>
        <p:spPr>
          <a:xfrm>
            <a:off x="6013837" y="457200"/>
            <a:ext cx="5892805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09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43196-93FD-E544-C2EE-5BFDA9CE0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974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Machine Learning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A6841-B39C-FCE8-9BB0-D14BF77C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1800" b="1" smtClean="0">
                <a:solidFill>
                  <a:schemeClr val="tx1"/>
                </a:solidFill>
              </a:rPr>
              <a:t>4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E0D6F46-00F9-46F7-7DA6-FEE50EC546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4" y="811086"/>
            <a:ext cx="6743795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/>
              <a:t>Challenge: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7 correlated features determine track quality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High-quality tracks to be selected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Simple cuts on individual features are inefficient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CC1087-2549-F0B4-3778-B7C1B3C5ABF8}"/>
              </a:ext>
            </a:extLst>
          </p:cNvPr>
          <p:cNvSpPr txBox="1"/>
          <p:nvPr/>
        </p:nvSpPr>
        <p:spPr>
          <a:xfrm>
            <a:off x="14514" y="2569596"/>
            <a:ext cx="719908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Approach: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Boosted Decision Trees (BDT) can learn complex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Train on labeled examples of good  vs. bad tracks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Model learns which feature combinations indicate quality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0AFE6B-EC2B-4421-FC90-FC6772534F7E}"/>
              </a:ext>
            </a:extLst>
          </p:cNvPr>
          <p:cNvSpPr txBox="1"/>
          <p:nvPr/>
        </p:nvSpPr>
        <p:spPr>
          <a:xfrm>
            <a:off x="3054302" y="5092806"/>
            <a:ext cx="60833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Artificial Neural Network (ANN) – Current </a:t>
            </a:r>
          </a:p>
          <a:p>
            <a:pPr algn="ctr"/>
            <a:r>
              <a:rPr lang="en-US" sz="2400" b="1" dirty="0" err="1"/>
              <a:t>XGBoost</a:t>
            </a:r>
            <a:r>
              <a:rPr lang="en-US" sz="2400" b="1" dirty="0"/>
              <a:t> BDT – this 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C16DFD-975A-4439-48A2-16D265AD4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836" y="1229103"/>
            <a:ext cx="5223164" cy="347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923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DEDC-A1D2-3EF5-8A4E-A2CA08A36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7" y="-135158"/>
            <a:ext cx="11353800" cy="167149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How Does a Boosted Decision Tree Work?</a:t>
            </a:r>
            <a:br>
              <a:rPr lang="en-US" sz="4800" dirty="0"/>
            </a:br>
            <a:endParaRPr lang="en-US" sz="4800" dirty="0"/>
          </a:p>
        </p:txBody>
      </p:sp>
      <p:pic>
        <p:nvPicPr>
          <p:cNvPr id="1028" name="Picture 4" descr="Guia Completo da Log Loss (Perda Logarítmica) em Machine Learning | Mario  Filho | Machine Learning">
            <a:extLst>
              <a:ext uri="{FF2B5EF4-FFF2-40B4-BE49-F238E27FC236}">
                <a16:creationId xmlns:a16="http://schemas.microsoft.com/office/drawing/2014/main" id="{F08DDB41-1836-F4D7-2DD9-857070A3A8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25" b="39939"/>
          <a:stretch>
            <a:fillRect/>
          </a:stretch>
        </p:blipFill>
        <p:spPr bwMode="auto">
          <a:xfrm>
            <a:off x="1445780" y="5453038"/>
            <a:ext cx="8284433" cy="100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233F6F-D966-7AF8-6984-B8337AC81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2898" y="6571955"/>
            <a:ext cx="381003" cy="286045"/>
          </a:xfrm>
        </p:spPr>
        <p:txBody>
          <a:bodyPr/>
          <a:lstStyle/>
          <a:p>
            <a:fld id="{330EA680-D336-4FF7-8B7A-9848BB0A1C32}" type="slidenum">
              <a:rPr lang="en-US" sz="1800" b="1" smtClean="0">
                <a:solidFill>
                  <a:schemeClr val="tx1"/>
                </a:solidFill>
              </a:rPr>
              <a:t>5</a:t>
            </a:fld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E710ED-CF6D-2EA4-BFC7-58AC555808F0}"/>
              </a:ext>
            </a:extLst>
          </p:cNvPr>
          <p:cNvSpPr txBox="1"/>
          <p:nvPr/>
        </p:nvSpPr>
        <p:spPr>
          <a:xfrm>
            <a:off x="54628" y="596432"/>
            <a:ext cx="10183586" cy="2356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Single tree asks yes/no question about track features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Each path through tree ends in a leaf with a score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Boosting: </a:t>
            </a:r>
            <a:r>
              <a:rPr lang="en-US" sz="2000" dirty="0"/>
              <a:t>Builds many trees iteratively, focusing on misclassified tracks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Combines hundreds of trees for final high-quality vs. low-quality classification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Optimizes using log loss to improve probability estimates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B9BD1F-259B-85A6-BBF3-D7F81832568A}"/>
              </a:ext>
            </a:extLst>
          </p:cNvPr>
          <p:cNvSpPr txBox="1"/>
          <p:nvPr/>
        </p:nvSpPr>
        <p:spPr>
          <a:xfrm>
            <a:off x="2461787" y="6314867"/>
            <a:ext cx="3004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</a:t>
            </a:r>
            <a:r>
              <a:rPr lang="en-US" b="1" dirty="0">
                <a:solidFill>
                  <a:srgbClr val="FF0000"/>
                </a:solidFill>
              </a:rPr>
              <a:t>=Total # of Tracks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7FA23E-35B2-0509-94F7-70BC07B797D0}"/>
                  </a:ext>
                </a:extLst>
              </p:cNvPr>
              <p:cNvSpPr txBox="1"/>
              <p:nvPr/>
            </p:nvSpPr>
            <p:spPr>
              <a:xfrm>
                <a:off x="5484888" y="5293969"/>
                <a:ext cx="24953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is the correct label</a:t>
                </a:r>
                <a:endParaRPr lang="en-US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7FA23E-35B2-0509-94F7-70BC07B79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4888" y="5293969"/>
                <a:ext cx="2495330" cy="400110"/>
              </a:xfrm>
              <a:prstGeom prst="rect">
                <a:avLst/>
              </a:prstGeom>
              <a:blipFill>
                <a:blip r:embed="rId3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9942AD-FE89-7FA2-0F6B-C73DE8E2C601}"/>
                  </a:ext>
                </a:extLst>
              </p:cNvPr>
              <p:cNvSpPr txBox="1"/>
              <p:nvPr/>
            </p:nvSpPr>
            <p:spPr>
              <a:xfrm>
                <a:off x="6976935" y="6262721"/>
                <a:ext cx="467473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is  the predicted probability for track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9942AD-FE89-7FA2-0F6B-C73DE8E2C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935" y="6262721"/>
                <a:ext cx="4674738" cy="400110"/>
              </a:xfrm>
              <a:prstGeom prst="rect">
                <a:avLst/>
              </a:prstGeom>
              <a:blipFill>
                <a:blip r:embed="rId4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9DAF7AE6-03B8-B473-6BB1-4F96C04E9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3326" y="2937747"/>
            <a:ext cx="8563124" cy="235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50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745B-1ECA-DA8A-AE96-C70A0102C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33958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err="1"/>
              <a:t>XGBoost</a:t>
            </a:r>
            <a:r>
              <a:rPr lang="en-US" sz="4800" b="1" dirty="0"/>
              <a:t> &amp; Hyperparameters Tuning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DDADC8C-735A-5CF7-DB1D-C472A6B43F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5094386"/>
              </p:ext>
            </p:extLst>
          </p:nvPr>
        </p:nvGraphicFramePr>
        <p:xfrm>
          <a:off x="5721160" y="553345"/>
          <a:ext cx="5476229" cy="42775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D847EC-A41C-D2FE-67D8-D98654DC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1800" b="1" smtClean="0">
                <a:solidFill>
                  <a:schemeClr val="tx1"/>
                </a:solidFill>
              </a:rPr>
              <a:t>6</a:t>
            </a:fld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EA5155-5EBF-FA49-DA4C-4C69C61C08AC}"/>
              </a:ext>
            </a:extLst>
          </p:cNvPr>
          <p:cNvSpPr txBox="1"/>
          <p:nvPr/>
        </p:nvSpPr>
        <p:spPr>
          <a:xfrm>
            <a:off x="0" y="679741"/>
            <a:ext cx="7984671" cy="4202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XGBoost</a:t>
            </a:r>
            <a:r>
              <a:rPr lang="en-US" sz="2000" b="1" dirty="0"/>
              <a:t>: </a:t>
            </a:r>
            <a:r>
              <a:rPr lang="en-US" sz="2000" dirty="0"/>
              <a:t>Optimized gradient boosting implementation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Hyperparameters</a:t>
            </a:r>
            <a:r>
              <a:rPr lang="en-US" sz="2000" dirty="0"/>
              <a:t> are tunable settings that control model behavior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Key Parameters: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</a:rPr>
              <a:t>Maximum Depth:</a:t>
            </a:r>
            <a:r>
              <a:rPr lang="en-US" sz="2000" b="1" dirty="0"/>
              <a:t> </a:t>
            </a:r>
            <a:r>
              <a:rPr lang="en-US" sz="2000" dirty="0"/>
              <a:t>Controls tree complexity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</a:rPr>
              <a:t>Learning Rate: </a:t>
            </a:r>
            <a:r>
              <a:rPr lang="en-US" sz="2000" dirty="0"/>
              <a:t>size for each tree’s contribution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</a:rPr>
              <a:t># of Trees: </a:t>
            </a:r>
            <a:r>
              <a:rPr lang="en-US" sz="2000" dirty="0"/>
              <a:t>Total number of trees in ensemble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Goal: </a:t>
            </a:r>
            <a:r>
              <a:rPr lang="en-US" sz="2000" dirty="0"/>
              <a:t>Find optimal configuration through systematic testing</a:t>
            </a:r>
            <a:br>
              <a:rPr lang="en-US" sz="2000" dirty="0"/>
            </a:br>
            <a:r>
              <a:rPr lang="en-US" sz="2000" dirty="0"/>
              <a:t>Selected based on validation 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186C23-4B7F-2CDB-708B-A5ECE14E53E5}"/>
              </a:ext>
            </a:extLst>
          </p:cNvPr>
          <p:cNvSpPr txBox="1"/>
          <p:nvPr/>
        </p:nvSpPr>
        <p:spPr>
          <a:xfrm>
            <a:off x="700767" y="4936748"/>
            <a:ext cx="10790465" cy="1432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Training dataset: </a:t>
            </a:r>
            <a:r>
              <a:rPr lang="en-US" sz="2000" dirty="0"/>
              <a:t>FlateMinusMix1BBTriggered dataset (MDC2020aw simulation)</a:t>
            </a:r>
            <a:br>
              <a:rPr lang="en-US" sz="2000" dirty="0"/>
            </a:br>
            <a:r>
              <a:rPr lang="en-US" sz="2000" dirty="0"/>
              <a:t>Contains electrons with flat momentum spectrum (80-105 MeV) from stopping target</a:t>
            </a:r>
            <a:br>
              <a:rPr lang="en-US" sz="2000" dirty="0"/>
            </a:br>
            <a:r>
              <a:rPr lang="en-US" sz="2000" dirty="0"/>
              <a:t>Preprocessed with </a:t>
            </a:r>
            <a:r>
              <a:rPr lang="en-US" sz="2000" dirty="0" err="1"/>
              <a:t>RooUtil</a:t>
            </a:r>
            <a:r>
              <a:rPr lang="en-US" sz="2000" dirty="0"/>
              <a:t> to flatten </a:t>
            </a:r>
            <a:r>
              <a:rPr lang="en-US" sz="2000" dirty="0" err="1"/>
              <a:t>ntuple</a:t>
            </a:r>
            <a:r>
              <a:rPr lang="en-US" sz="2000" dirty="0"/>
              <a:t> structure for ML training</a:t>
            </a:r>
          </a:p>
        </p:txBody>
      </p:sp>
    </p:spTree>
    <p:extLst>
      <p:ext uri="{BB962C8B-B14F-4D97-AF65-F5344CB8AC3E}">
        <p14:creationId xmlns:p14="http://schemas.microsoft.com/office/powerpoint/2010/main" val="3851545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BF37A-63DA-62B4-2CFE-645F7B9A7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793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Maximum Depth</a:t>
            </a:r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73D192D-788E-D6EA-DB1C-C98C5C1D7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337" y="2571943"/>
            <a:ext cx="7491663" cy="4229165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0C5715-DEEB-068D-16E3-7AFFF696A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1800" b="1" smtClean="0">
                <a:solidFill>
                  <a:schemeClr val="tx1"/>
                </a:solidFill>
              </a:rPr>
              <a:t>7</a:t>
            </a:fld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94AE38-26F1-FE12-1213-971BAAE73269}"/>
              </a:ext>
            </a:extLst>
          </p:cNvPr>
          <p:cNvSpPr txBox="1"/>
          <p:nvPr/>
        </p:nvSpPr>
        <p:spPr>
          <a:xfrm>
            <a:off x="0" y="283425"/>
            <a:ext cx="10225310" cy="2356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Controls maximum number of splits per tree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Training curves: </a:t>
            </a:r>
            <a:r>
              <a:rPr lang="en-US" sz="2000" dirty="0"/>
              <a:t>Deeper trees achieve lower training loss (overfitting)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Validation curves: </a:t>
            </a:r>
            <a:r>
              <a:rPr lang="en-US" sz="2000" dirty="0"/>
              <a:t>All depths converge to same performance (~0.30)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Selected: </a:t>
            </a:r>
            <a:r>
              <a:rPr lang="en-US" sz="2000" b="1" dirty="0"/>
              <a:t>Max Depth = 2 </a:t>
            </a:r>
            <a:r>
              <a:rPr lang="en-US" sz="2000" dirty="0"/>
              <a:t>achieves lowest validation loss (~0.2946)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Benefits: </a:t>
            </a:r>
            <a:r>
              <a:rPr lang="en-US" sz="2000" dirty="0"/>
              <a:t>Faster training, better interpretability, reduced overfitting</a:t>
            </a:r>
          </a:p>
        </p:txBody>
      </p:sp>
      <p:pic>
        <p:nvPicPr>
          <p:cNvPr id="7" name="Picture 6" descr="A diagram of a number&#10;&#10;AI-generated content may be incorrect.">
            <a:extLst>
              <a:ext uri="{FF2B5EF4-FFF2-40B4-BE49-F238E27FC236}">
                <a16:creationId xmlns:a16="http://schemas.microsoft.com/office/drawing/2014/main" id="{BF32EE18-AF91-6A55-645A-A6680AF45F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71943"/>
            <a:ext cx="4860758" cy="14840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B8F062-D802-6080-575D-3A5E79D9E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55979"/>
            <a:ext cx="4700337" cy="280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25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CE59-8AD6-9366-9405-761E64E13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099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Learning Rate </a:t>
            </a:r>
            <a:r>
              <a:rPr lang="el-GR" sz="4800" b="1" dirty="0"/>
              <a:t>η</a:t>
            </a:r>
            <a:endParaRPr lang="en-US" sz="4800" b="1" dirty="0"/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3620AC18-8DA3-9157-93EA-D41A5BBCF1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382" y="1143818"/>
            <a:ext cx="7335618" cy="414107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DBFFDA-81E8-D48A-F6A5-1A96CABA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1800" b="1" smtClean="0">
                <a:solidFill>
                  <a:schemeClr val="tx1"/>
                </a:solidFill>
              </a:rPr>
              <a:t>8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5B59FB-942A-8A09-24E1-C14AE6A5E593}"/>
              </a:ext>
            </a:extLst>
          </p:cNvPr>
          <p:cNvSpPr txBox="1"/>
          <p:nvPr/>
        </p:nvSpPr>
        <p:spPr>
          <a:xfrm>
            <a:off x="174172" y="530563"/>
            <a:ext cx="4905828" cy="5680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Learning rate (</a:t>
            </a:r>
            <a:r>
              <a:rPr lang="el-GR" sz="2000" b="1" dirty="0"/>
              <a:t>η</a:t>
            </a:r>
            <a:r>
              <a:rPr lang="en-US" sz="2000" b="1" dirty="0"/>
              <a:t>) </a:t>
            </a:r>
            <a:r>
              <a:rPr lang="en-US" sz="2000" dirty="0"/>
              <a:t>controls step size for each tree’s contribution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Low rates (0.005, 0.01): </a:t>
            </a:r>
            <a:r>
              <a:rPr lang="en-US" sz="2000" dirty="0"/>
              <a:t>Slow convergence, need many rounds to learn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Fast convergence within ~100 rounds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Validation High rates (0.04, 0.08): </a:t>
            </a:r>
            <a:r>
              <a:rPr lang="en-US" sz="2000" dirty="0"/>
              <a:t>performance: </a:t>
            </a:r>
            <a:r>
              <a:rPr lang="el-GR" sz="2000" dirty="0"/>
              <a:t>η</a:t>
            </a:r>
            <a:r>
              <a:rPr lang="en-US" sz="2000" dirty="0"/>
              <a:t>=0.04 achieves best result (~0.2945)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Selected: </a:t>
            </a:r>
            <a:r>
              <a:rPr lang="el-GR" sz="2000" b="1" dirty="0"/>
              <a:t>η</a:t>
            </a:r>
            <a:r>
              <a:rPr lang="en-US" sz="2000" b="1" dirty="0"/>
              <a:t>=0.04 </a:t>
            </a:r>
            <a:r>
              <a:rPr lang="en-US" sz="2000" dirty="0"/>
              <a:t>– optimal balance between speed and accuracy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Small training-Validation gap indicates good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1767513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ED205-9D8C-BEC4-369C-710E21408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469" y="-302305"/>
            <a:ext cx="11043062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Receiver Operating Characteristic Curve </a:t>
            </a:r>
          </a:p>
        </p:txBody>
      </p:sp>
      <p:pic>
        <p:nvPicPr>
          <p:cNvPr id="5" name="Content Placeholder 4" descr="A graph of a tree&#10;&#10;AI-generated content may be incorrect.">
            <a:extLst>
              <a:ext uri="{FF2B5EF4-FFF2-40B4-BE49-F238E27FC236}">
                <a16:creationId xmlns:a16="http://schemas.microsoft.com/office/drawing/2014/main" id="{0E62395C-34C4-3008-9FC1-84A224E887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226" y="1515504"/>
            <a:ext cx="6895379" cy="3826991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DB5FFF-61F7-B5FB-D85C-E582B72F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617" y="6492875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1800" b="1" smtClean="0">
                <a:solidFill>
                  <a:schemeClr val="tx1"/>
                </a:solidFill>
              </a:rPr>
              <a:t>9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A208F-3F03-E4D4-296D-927A9DF5755C}"/>
              </a:ext>
            </a:extLst>
          </p:cNvPr>
          <p:cNvSpPr txBox="1"/>
          <p:nvPr/>
        </p:nvSpPr>
        <p:spPr>
          <a:xfrm>
            <a:off x="0" y="1023258"/>
            <a:ext cx="5921829" cy="5392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ROC curve </a:t>
            </a:r>
            <a:r>
              <a:rPr lang="en-US" sz="2000" dirty="0">
                <a:cs typeface="Arial" panose="020B0604020202020204" pitchFamily="34" charset="0"/>
              </a:rPr>
              <a:t>shows tradeoff between signal efficiency and background rejection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X-axis: </a:t>
            </a:r>
            <a:r>
              <a:rPr lang="en-US" sz="2000" dirty="0">
                <a:cs typeface="Arial" panose="020B0604020202020204" pitchFamily="34" charset="0"/>
              </a:rPr>
              <a:t>high-quality tracks retained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Y-axis: </a:t>
            </a:r>
            <a:r>
              <a:rPr lang="en-US" sz="2000" dirty="0">
                <a:cs typeface="Arial" panose="020B0604020202020204" pitchFamily="34" charset="0"/>
              </a:rPr>
              <a:t>low-quality tracks rejected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Curves closer to top-right corner give better performance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AUC</a:t>
            </a:r>
            <a:r>
              <a:rPr lang="en-US" sz="2000" dirty="0">
                <a:cs typeface="Arial" panose="020B0604020202020204" pitchFamily="34" charset="0"/>
              </a:rPr>
              <a:t> (Area Under Curve) summarizes overall classifier quality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Figure of Merit (</a:t>
            </a:r>
            <a:r>
              <a:rPr lang="en-US" sz="2000" b="1" dirty="0" err="1">
                <a:cs typeface="Arial" panose="020B0604020202020204" pitchFamily="34" charset="0"/>
              </a:rPr>
              <a:t>FoM</a:t>
            </a:r>
            <a:r>
              <a:rPr lang="en-US" sz="2000" b="1" dirty="0">
                <a:cs typeface="Arial" panose="020B0604020202020204" pitchFamily="34" charset="0"/>
              </a:rPr>
              <a:t>): </a:t>
            </a:r>
            <a:r>
              <a:rPr lang="en-US" sz="2000" dirty="0">
                <a:cs typeface="Arial" panose="020B0604020202020204" pitchFamily="34" charset="0"/>
              </a:rPr>
              <a:t> 99% rejection of low-quality tracks (necessary to suppress DIO tail)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7D0C56-BDFA-660E-50D6-C83F13819711}"/>
              </a:ext>
            </a:extLst>
          </p:cNvPr>
          <p:cNvSpPr txBox="1"/>
          <p:nvPr/>
        </p:nvSpPr>
        <p:spPr>
          <a:xfrm>
            <a:off x="5269226" y="5061817"/>
            <a:ext cx="708324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500 and 1000 trees perform identically ( both at 57% at </a:t>
            </a:r>
            <a:r>
              <a:rPr lang="en-US" sz="2000" dirty="0" err="1">
                <a:cs typeface="Arial" panose="020B0604020202020204" pitchFamily="34" charset="0"/>
              </a:rPr>
              <a:t>FoM</a:t>
            </a:r>
            <a:r>
              <a:rPr lang="en-US" sz="2000" dirty="0">
                <a:cs typeface="Arial" panose="020B060402020202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cs typeface="Arial" panose="020B0604020202020204" pitchFamily="34" charset="0"/>
              </a:rPr>
              <a:t>Selected: </a:t>
            </a:r>
            <a:r>
              <a:rPr lang="en-US" sz="2000" b="1" dirty="0">
                <a:cs typeface="Arial" panose="020B0604020202020204" pitchFamily="34" charset="0"/>
              </a:rPr>
              <a:t>500 trees </a:t>
            </a:r>
            <a:r>
              <a:rPr lang="en-US" sz="2000" dirty="0">
                <a:cs typeface="Arial" panose="020B0604020202020204" pitchFamily="34" charset="0"/>
              </a:rPr>
              <a:t>– optimal performance without extra computational cost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467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8B22E-254F-BA09-8DE8-8643E6537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968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b="1" dirty="0"/>
              <a:t>Momentum Resolution After BDT Selection</a:t>
            </a:r>
            <a:endParaRPr lang="en-US" sz="4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DC4A1-6097-E7E5-F358-76F0BA7FF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1800" b="1" smtClean="0">
                <a:solidFill>
                  <a:schemeClr val="tx1"/>
                </a:solidFill>
              </a:rPr>
              <a:t>10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4B91FB5-CD5B-08FB-80B3-B17B7386E9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789192"/>
            <a:ext cx="5192956" cy="3279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BDT quality cut 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trkqual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≥ 0.92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effectively narrows momentum resolution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Higher validation efficiency: Pure signal electrons are easier to reconstruct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Lower mock efficiency: Includes challenging backgrounds (</a:t>
            </a:r>
            <a:r>
              <a:rPr lang="en-US" sz="2000" dirty="0" err="1"/>
              <a:t>cosmics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off-target) </a:t>
            </a:r>
          </a:p>
        </p:txBody>
      </p:sp>
      <p:pic>
        <p:nvPicPr>
          <p:cNvPr id="7" name="Content Placeholder 8" descr="A graph of different types of data&#10;&#10;AI-generated content may be incorrect.">
            <a:extLst>
              <a:ext uri="{FF2B5EF4-FFF2-40B4-BE49-F238E27FC236}">
                <a16:creationId xmlns:a16="http://schemas.microsoft.com/office/drawing/2014/main" id="{EA0BC0DE-0AFF-317E-7F5D-6784A9F3D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6" t="7203" r="7937" b="4988"/>
          <a:stretch>
            <a:fillRect/>
          </a:stretch>
        </p:blipFill>
        <p:spPr>
          <a:xfrm>
            <a:off x="4978400" y="1306172"/>
            <a:ext cx="7213600" cy="42281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26FCBD-58B8-2175-F26B-6C91CFEEED8D}"/>
              </a:ext>
            </a:extLst>
          </p:cNvPr>
          <p:cNvSpPr txBox="1"/>
          <p:nvPr/>
        </p:nvSpPr>
        <p:spPr>
          <a:xfrm>
            <a:off x="5370288" y="814051"/>
            <a:ext cx="19594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latin typeface="Arial" panose="020B0604020202020204" pitchFamily="34" charset="0"/>
              </a:rPr>
              <a:t>Flat momentum, at stopping target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6A14CC-FD0B-FDA5-E984-8A3FB94A77BE}"/>
              </a:ext>
            </a:extLst>
          </p:cNvPr>
          <p:cNvSpPr txBox="1"/>
          <p:nvPr/>
        </p:nvSpPr>
        <p:spPr>
          <a:xfrm>
            <a:off x="7663543" y="814052"/>
            <a:ext cx="19594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latin typeface="Arial" panose="020B0604020202020204" pitchFamily="34" charset="0"/>
              </a:rPr>
              <a:t>Monoenergetic 105 MeV conversions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B04490-5CA0-ABEC-2E82-2ED2E078A40A}"/>
              </a:ext>
            </a:extLst>
          </p:cNvPr>
          <p:cNvSpPr txBox="1"/>
          <p:nvPr/>
        </p:nvSpPr>
        <p:spPr>
          <a:xfrm>
            <a:off x="9956798" y="814051"/>
            <a:ext cx="23690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latin typeface="Arial" panose="020B0604020202020204" pitchFamily="34" charset="0"/>
              </a:rPr>
              <a:t>Full detector simulation with </a:t>
            </a:r>
            <a:r>
              <a:rPr lang="en-US" altLang="en-US" sz="1600" dirty="0" err="1">
                <a:latin typeface="Arial" panose="020B0604020202020204" pitchFamily="34" charset="0"/>
              </a:rPr>
              <a:t>cosmics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FFFA83-D72F-35F4-CBD5-7AF3BF7FFB8D}"/>
              </a:ext>
            </a:extLst>
          </p:cNvPr>
          <p:cNvSpPr txBox="1"/>
          <p:nvPr/>
        </p:nvSpPr>
        <p:spPr>
          <a:xfrm>
            <a:off x="5192955" y="1875559"/>
            <a:ext cx="1235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Eff = 57.2%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45F3DD-467B-5D67-8B54-9E6812CA834C}"/>
              </a:ext>
            </a:extLst>
          </p:cNvPr>
          <p:cNvSpPr txBox="1"/>
          <p:nvPr/>
        </p:nvSpPr>
        <p:spPr>
          <a:xfrm>
            <a:off x="7663543" y="1875559"/>
            <a:ext cx="1126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Eff = 72%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4F889E-7ADA-FF48-71AB-B25045AABEA0}"/>
              </a:ext>
            </a:extLst>
          </p:cNvPr>
          <p:cNvSpPr txBox="1"/>
          <p:nvPr/>
        </p:nvSpPr>
        <p:spPr>
          <a:xfrm>
            <a:off x="9905786" y="1875559"/>
            <a:ext cx="1235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Eff = 51.7%</a:t>
            </a:r>
          </a:p>
        </p:txBody>
      </p:sp>
    </p:spTree>
    <p:extLst>
      <p:ext uri="{BB962C8B-B14F-4D97-AF65-F5344CB8AC3E}">
        <p14:creationId xmlns:p14="http://schemas.microsoft.com/office/powerpoint/2010/main" val="3481401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6AB9F-493D-F78D-38E5-23672F95C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6" y="-16635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BDT vs. ANN Performance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F6A385-9627-ADB3-48CE-C821C75DFB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0745622"/>
              </p:ext>
            </p:extLst>
          </p:nvPr>
        </p:nvGraphicFramePr>
        <p:xfrm>
          <a:off x="1015089" y="1127365"/>
          <a:ext cx="10161815" cy="18886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363">
                  <a:extLst>
                    <a:ext uri="{9D8B030D-6E8A-4147-A177-3AD203B41FA5}">
                      <a16:colId xmlns:a16="http://schemas.microsoft.com/office/drawing/2014/main" val="3765884438"/>
                    </a:ext>
                  </a:extLst>
                </a:gridCol>
                <a:gridCol w="2032363">
                  <a:extLst>
                    <a:ext uri="{9D8B030D-6E8A-4147-A177-3AD203B41FA5}">
                      <a16:colId xmlns:a16="http://schemas.microsoft.com/office/drawing/2014/main" val="1992000950"/>
                    </a:ext>
                  </a:extLst>
                </a:gridCol>
                <a:gridCol w="2032363">
                  <a:extLst>
                    <a:ext uri="{9D8B030D-6E8A-4147-A177-3AD203B41FA5}">
                      <a16:colId xmlns:a16="http://schemas.microsoft.com/office/drawing/2014/main" val="1019496497"/>
                    </a:ext>
                  </a:extLst>
                </a:gridCol>
                <a:gridCol w="2032363">
                  <a:extLst>
                    <a:ext uri="{9D8B030D-6E8A-4147-A177-3AD203B41FA5}">
                      <a16:colId xmlns:a16="http://schemas.microsoft.com/office/drawing/2014/main" val="3487166556"/>
                    </a:ext>
                  </a:extLst>
                </a:gridCol>
                <a:gridCol w="2032363">
                  <a:extLst>
                    <a:ext uri="{9D8B030D-6E8A-4147-A177-3AD203B41FA5}">
                      <a16:colId xmlns:a16="http://schemas.microsoft.com/office/drawing/2014/main" val="4228626076"/>
                    </a:ext>
                  </a:extLst>
                </a:gridCol>
              </a:tblGrid>
              <a:tr h="6243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Processing New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193236"/>
                  </a:ext>
                </a:extLst>
              </a:tr>
              <a:tr h="6243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46.2s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559336"/>
                  </a:ext>
                </a:extLst>
              </a:tr>
              <a:tr h="6243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BDT1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1.81s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3.44s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5326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122E5B-C351-D87F-A319-3FD5F2AF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462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1800" b="1" smtClean="0">
                <a:solidFill>
                  <a:schemeClr val="tx1"/>
                </a:solidFill>
              </a:rPr>
              <a:t>11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759D59-3678-604F-7994-EF99C3C0B294}"/>
              </a:ext>
            </a:extLst>
          </p:cNvPr>
          <p:cNvSpPr txBox="1">
            <a:spLocks/>
          </p:cNvSpPr>
          <p:nvPr/>
        </p:nvSpPr>
        <p:spPr>
          <a:xfrm>
            <a:off x="1015090" y="4317532"/>
            <a:ext cx="10814052" cy="2853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Runtime Comparison</a:t>
            </a:r>
          </a:p>
          <a:p>
            <a:r>
              <a:rPr lang="en-US" sz="2400" dirty="0"/>
              <a:t>Timing measurements performed in a </a:t>
            </a:r>
            <a:r>
              <a:rPr lang="en-US" sz="2400" dirty="0" err="1"/>
              <a:t>Jupyter</a:t>
            </a:r>
            <a:r>
              <a:rPr lang="en-US" sz="2400" dirty="0"/>
              <a:t> notebook</a:t>
            </a:r>
          </a:p>
          <a:p>
            <a:r>
              <a:rPr lang="en-US" sz="2400" dirty="0"/>
              <a:t>Both models run in the same </a:t>
            </a:r>
            <a:r>
              <a:rPr lang="en-US" sz="2400" dirty="0" err="1"/>
              <a:t>Jupyter</a:t>
            </a:r>
            <a:r>
              <a:rPr lang="en-US" sz="2400" dirty="0"/>
              <a:t> notebook with identical software settings</a:t>
            </a:r>
          </a:p>
          <a:p>
            <a:r>
              <a:rPr lang="en-US" sz="2400" dirty="0"/>
              <a:t>BDT1 trains substantially faster than ANN1</a:t>
            </a:r>
          </a:p>
          <a:p>
            <a:r>
              <a:rPr lang="en-US" sz="2400" dirty="0"/>
              <a:t>BDT1 is also faster when applied to new datasets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0F822A-C9E3-76B0-7FF9-10EA15C08BFB}"/>
              </a:ext>
            </a:extLst>
          </p:cNvPr>
          <p:cNvSpPr txBox="1"/>
          <p:nvPr/>
        </p:nvSpPr>
        <p:spPr>
          <a:xfrm>
            <a:off x="1015090" y="3055648"/>
            <a:ext cx="1081405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Efficiency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At the 99% background-rejection operating point, the BDT retains </a:t>
            </a:r>
            <a:r>
              <a:rPr lang="en-US" sz="2400" b="1" dirty="0">
                <a:solidFill>
                  <a:srgbClr val="FF0000"/>
                </a:solidFill>
              </a:rPr>
              <a:t>57.2%</a:t>
            </a:r>
            <a:r>
              <a:rPr lang="en-US" sz="2400" dirty="0"/>
              <a:t> of good tracks, compared to </a:t>
            </a:r>
            <a:r>
              <a:rPr lang="en-US" sz="2400" b="1" dirty="0">
                <a:solidFill>
                  <a:srgbClr val="FF0000"/>
                </a:solidFill>
              </a:rPr>
              <a:t>48.1%</a:t>
            </a:r>
            <a:r>
              <a:rPr lang="en-US" sz="2400" dirty="0"/>
              <a:t> for the ANN</a:t>
            </a:r>
          </a:p>
        </p:txBody>
      </p:sp>
    </p:spTree>
    <p:extLst>
      <p:ext uri="{BB962C8B-B14F-4D97-AF65-F5344CB8AC3E}">
        <p14:creationId xmlns:p14="http://schemas.microsoft.com/office/powerpoint/2010/main" val="2353177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2FE89-B736-F0F2-5058-8440C312A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2314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Next On The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8165B-CDAA-938F-1AEE-DC75A1F9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462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1800" b="1" smtClean="0">
                <a:solidFill>
                  <a:schemeClr val="tx1"/>
                </a:solidFill>
              </a:rPr>
              <a:t>12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8ED4F97-E714-4874-E572-F7328036C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84828"/>
            <a:ext cx="9497793" cy="1969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/>
              <a:t>Develop a reliable </a:t>
            </a:r>
            <a:r>
              <a:rPr lang="en-US" altLang="en-US" dirty="0" err="1"/>
              <a:t>XGBoost</a:t>
            </a:r>
            <a:r>
              <a:rPr lang="en-US" altLang="en-US" dirty="0"/>
              <a:t>-to-TMVA conversion workflow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/>
              <a:t>Deploy the converted model in the </a:t>
            </a:r>
            <a:r>
              <a:rPr lang="en-US" dirty="0"/>
              <a:t>Mu2e </a:t>
            </a:r>
            <a:r>
              <a:rPr lang="en-US" altLang="en-US" dirty="0"/>
              <a:t>art framework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/>
              <a:t>Verify event-by-event agreement with the Python model</a:t>
            </a:r>
          </a:p>
        </p:txBody>
      </p:sp>
    </p:spTree>
    <p:extLst>
      <p:ext uri="{BB962C8B-B14F-4D97-AF65-F5344CB8AC3E}">
        <p14:creationId xmlns:p14="http://schemas.microsoft.com/office/powerpoint/2010/main" val="2720097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54FF3-F224-AEC9-1874-C662553C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75093"/>
            <a:ext cx="10515600" cy="1325563"/>
          </a:xfrm>
        </p:spPr>
        <p:txBody>
          <a:bodyPr/>
          <a:lstStyle/>
          <a:p>
            <a:pPr algn="ctr"/>
            <a:r>
              <a:rPr lang="en-US" sz="5400" b="1" dirty="0"/>
              <a:t>Summary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9170-EE3F-56D9-234D-E26926CEE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1800" b="1" smtClean="0">
                <a:solidFill>
                  <a:schemeClr val="tx1"/>
                </a:solidFill>
              </a:rPr>
              <a:t>13</a:t>
            </a:fld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669E73-D7DA-14E9-5DA8-FACD8ECE5F10}"/>
              </a:ext>
            </a:extLst>
          </p:cNvPr>
          <p:cNvSpPr txBox="1"/>
          <p:nvPr/>
        </p:nvSpPr>
        <p:spPr>
          <a:xfrm>
            <a:off x="2713661" y="4169006"/>
            <a:ext cx="66729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Thank you for your time!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800" b="1" dirty="0"/>
              <a:t>Happy to answer any question you have</a:t>
            </a:r>
          </a:p>
        </p:txBody>
      </p:sp>
      <p:pic>
        <p:nvPicPr>
          <p:cNvPr id="7170" name="Picture 2" descr="Man Dancing Color Medium Dark emoji - Free Download PNG &amp; SVG | Streamline">
            <a:extLst>
              <a:ext uri="{FF2B5EF4-FFF2-40B4-BE49-F238E27FC236}">
                <a16:creationId xmlns:a16="http://schemas.microsoft.com/office/drawing/2014/main" id="{B715533B-BD4A-9530-128C-6F3F0B8E8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171" y="5302825"/>
            <a:ext cx="1683657" cy="168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84BDA920-47E0-D696-D6CE-B2456C1550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490321"/>
            <a:ext cx="9717597" cy="3446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BDT outperforms the current ANN in track-quality selection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 99% background rejection, BDT retains ~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9%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more good tracks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Produces clean momentum resolution across all datasets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Trains and evaluates faster than ANN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Ready for large-scale Mu2e production pending TMVA integration</a:t>
            </a:r>
          </a:p>
          <a:p>
            <a:pPr marL="0" indent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Reference: </a:t>
            </a:r>
            <a:r>
              <a:rPr lang="en-US" sz="2400" dirty="0">
                <a:solidFill>
                  <a:srgbClr val="FF0000"/>
                </a:solidFill>
              </a:rPr>
              <a:t>Mu2e-doc-55327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5697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4292</TotalTime>
  <Words>900</Words>
  <Application>Microsoft Macintosh PowerPoint</Application>
  <PresentationFormat>Widescreen</PresentationFormat>
  <Paragraphs>146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Application of Boosted Decision Trees for High-Quality Track Selection in the Mu2e Experiment </vt:lpstr>
      <vt:lpstr>What is the problem?</vt:lpstr>
      <vt:lpstr>Momentum Resolution &amp; Used Features</vt:lpstr>
      <vt:lpstr>Machine Learning Approach</vt:lpstr>
      <vt:lpstr>How Does a Boosted Decision Tree Work? </vt:lpstr>
      <vt:lpstr>XGBoost &amp; Hyperparameters Tuning </vt:lpstr>
      <vt:lpstr>Maximum Depth</vt:lpstr>
      <vt:lpstr>Learning Rate η</vt:lpstr>
      <vt:lpstr>Receiver Operating Characteristic Curve </vt:lpstr>
      <vt:lpstr>Momentum Resolution After BDT Selection</vt:lpstr>
      <vt:lpstr>BDT vs. ANN Performance Comparison</vt:lpstr>
      <vt:lpstr>Next On The List</vt:lpstr>
      <vt:lpstr>Summary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MALIK M FAROUH</cp:lastModifiedBy>
  <cp:revision>141</cp:revision>
  <dcterms:created xsi:type="dcterms:W3CDTF">2026-01-25T03:19:58Z</dcterms:created>
  <dcterms:modified xsi:type="dcterms:W3CDTF">2026-07-20T10:44:17Z</dcterms:modified>
</cp:coreProperties>
</file>