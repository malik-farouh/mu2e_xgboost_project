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68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4798"/>
  </p:normalViewPr>
  <p:slideViewPr>
    <p:cSldViewPr snapToGrid="0">
      <p:cViewPr varScale="1">
        <p:scale>
          <a:sx n="114" d="100"/>
          <a:sy n="114" d="100"/>
        </p:scale>
        <p:origin x="167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A12FF3-80C3-2146-BA69-42C23CD137A9}" type="datetimeFigureOut">
              <a:rPr lang="en-US" smtClean="0"/>
              <a:t>7/20/26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69E567-B172-E84F-B2C8-616B35491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208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69E567-B172-E84F-B2C8-616B354912D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358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71D77-D0AE-4764-DC9A-33E7A5D608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F3C21A-23ED-2A8B-663F-C1579C9D04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0A115-7BC9-1FC5-C997-2B822ACDD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595DE-AB58-5946-8D21-7480AF5F401B}" type="datetime1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0D67F-89CB-3636-74A8-4EB733C10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52450-273B-2055-DE36-F9FFF0585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4E53-19E5-B046-8ACC-D856D0AEA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40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AA7AF-75CB-0FCC-48D1-5EFE1198E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248B3-D3C1-7996-1566-B9E764FD2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7F86E-F3B7-17C5-0ACC-56F92C6F3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BFDBE-0865-E847-B4D5-80C962C87875}" type="datetime1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3B6E25-23B8-BAC8-4FEB-2B1BEDD01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F82E1-C5D3-78A9-71DE-6A15405B3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4E53-19E5-B046-8ACC-D856D0AEA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145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D6855-9E74-7F2E-D3CF-C4EC449E1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0E0B33-B70B-3FC7-B190-C5702FBF4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A6A20-1225-7EE9-450B-CCA0B9896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04D3D-0BA9-6A42-AFE8-F9D0F4F9BB1A}" type="datetime1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8BBF79-F3BC-F700-499C-FD50F792F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CF991-FBC1-8828-2973-59AE699C2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4E53-19E5-B046-8ACC-D856D0AEA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327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B12B2-A068-C7AB-40A9-2B4F5795A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8A705-D396-F011-F234-FA3703073A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BADE36-D46E-F6B9-E115-54C6EF9841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9D23D-D663-9854-5E9A-0A786901E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2FD77-0E19-4448-8005-548579D0ADF4}" type="datetime1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558406-5D5B-C82A-91FD-306AF54E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A10F9F-A582-582A-4AAF-3AD3A8F4C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4E53-19E5-B046-8ACC-D856D0AEA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194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1A38B-5AD1-EDA3-9A38-9CF447300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935457-46E9-6BC0-3E1E-13107F2E45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08ABF4-45B9-F9FC-ABC8-C977703E67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856316-B6EE-A717-AD3E-FE74064EE2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7A0E33-ACAC-DE3A-21D9-DEA92DF715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58543D-FA8F-63F7-E86E-022F68529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E01C7-6228-8A43-BC88-E58787E11FCB}" type="datetime1">
              <a:rPr lang="en-US" smtClean="0"/>
              <a:t>7/20/26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6274FC-6F12-5D3D-59DA-A989D6C3C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265AF4-2FB3-A081-F368-21157A592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4E53-19E5-B046-8ACC-D856D0AEA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700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AB7AA-0B02-8A48-E4C2-6AEB1FEB5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0D2A99-4BA3-8D37-6EE7-39A24F7A9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995EB-599F-0D4C-873C-4836A0EF90D0}" type="datetime1">
              <a:rPr lang="en-US" smtClean="0"/>
              <a:t>7/20/26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79D97C-D10B-4B0F-D256-4439844CF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FCD5C8-96C4-72EB-0789-F4820F398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4E53-19E5-B046-8ACC-D856D0AEA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345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D5EFDC-BCB2-B24C-12DD-388BAD024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88A86-9D04-7F41-9E4F-F6C21E635736}" type="datetime1">
              <a:rPr lang="en-US" smtClean="0"/>
              <a:t>7/20/26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BFA926-9B0D-ABF1-3008-548124F53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F06492-58E3-ADEE-674F-A6831E83D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4E53-19E5-B046-8ACC-D856D0AEA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415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EEA70-C60B-1310-781C-477088B93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98247-3377-8B62-0994-8479D09E0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BFAAC8-69DF-103E-3F87-08BE769507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64DDF2-24FC-7490-C952-BC8E31141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E751-78B5-3C44-878E-1304E60FF3E1}" type="datetime1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C8A1EA-7129-6FA7-74A7-13C1B3D39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A577FE-5027-A5B9-9634-68B802FD5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4E53-19E5-B046-8ACC-D856D0AEA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621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E0779-3FCD-D7AA-8A00-A8A55271D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D3D27B-84F5-81EF-CCD5-553717DA6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6D452D-E0FC-9A62-D2AE-CDDE0D77EA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D5E640-2A72-5E3F-1009-BE5A93E49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70542-9CC1-5745-8673-12FE711A6D40}" type="datetime1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95DE0F-13C3-8D8B-5E5F-08DD194EE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0D35C5-976D-33E7-EA63-BFB3CB2A6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4E53-19E5-B046-8ACC-D856D0AEA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289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42FF-709A-1E60-9634-8785DF182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E97129-3876-3D06-71C6-E5A1B1FAF6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5E75D4-458E-2A6A-0F35-E9BF8AB39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1B71B-2ED8-EC4C-B7D1-4A543073A49A}" type="datetime1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7DE92-3532-0A10-6CD7-8550A42D6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52415-8679-8769-A587-8B43C7F34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4E53-19E5-B046-8ACC-D856D0AEA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785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2F13B1-2EDD-028D-4F70-8CA0030308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1B2FC9-A92A-BC52-71E2-CA89AAFE95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CF795-1EAF-7F21-3583-F149B5DB1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C43F8-4910-3E42-BF74-5FA9CA8896BF}" type="datetime1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89929-6337-F341-C736-432BEFF30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831A8-A070-64E5-2151-935E034F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4E53-19E5-B046-8ACC-D856D0AEA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731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B281E5-3349-1369-D6A1-65B7D96C5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13CF3-2736-561E-39BE-2D57DF5C31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E3C6F-2E54-D273-DDDF-6655E52018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261E5D-4D7E-684E-8396-16C44A33840F}" type="datetime1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6A53D-1DDB-C01A-C93A-01D339B24C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3FB3F-A2C7-9CAE-DBC4-DA91E6DC81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594E53-19E5-B046-8ACC-D856D0AEA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706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" y="0"/>
            <a:ext cx="12192001" cy="1689931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5400" dirty="0"/>
              <a:t>Testing the BDT model’s ability to classify tracks across perturbed datasets </a:t>
            </a:r>
            <a:endParaRPr lang="en-US" sz="4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D34E6D-B810-373B-435D-0E502EFDBD41}"/>
              </a:ext>
            </a:extLst>
          </p:cNvPr>
          <p:cNvSpPr txBox="1"/>
          <p:nvPr/>
        </p:nvSpPr>
        <p:spPr>
          <a:xfrm>
            <a:off x="-408348" y="4485517"/>
            <a:ext cx="9035266" cy="20005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ea typeface="+mn-lt"/>
                <a:cs typeface="+mn-lt"/>
              </a:rPr>
              <a:t>    </a:t>
            </a:r>
            <a:r>
              <a:rPr lang="en-US" sz="3200" b="1" dirty="0">
                <a:ea typeface="+mn-lt"/>
                <a:cs typeface="+mn-lt"/>
              </a:rPr>
              <a:t>Malik Farouh – City College of CUNY</a:t>
            </a:r>
          </a:p>
          <a:p>
            <a:pPr algn="ctr"/>
            <a:r>
              <a:rPr lang="en-US" sz="2400" dirty="0">
                <a:ea typeface="+mn-lt"/>
                <a:cs typeface="+mn-lt"/>
              </a:rPr>
              <a:t>Project period: July 2025-Present</a:t>
            </a:r>
          </a:p>
          <a:p>
            <a:pPr algn="ctr"/>
            <a:endParaRPr lang="en-US" sz="3200" b="1" dirty="0">
              <a:ea typeface="+mn-lt"/>
              <a:cs typeface="+mn-lt"/>
            </a:endParaRPr>
          </a:p>
          <a:p>
            <a:r>
              <a:rPr lang="en-US" sz="3200" b="1" dirty="0"/>
              <a:t>    Andrew Edmonds – York College of CUNY</a:t>
            </a:r>
          </a:p>
        </p:txBody>
      </p:sp>
      <p:pic>
        <p:nvPicPr>
          <p:cNvPr id="1028" name="Picture 4" descr="Out at CCNY | The City College of New York">
            <a:extLst>
              <a:ext uri="{FF2B5EF4-FFF2-40B4-BE49-F238E27FC236}">
                <a16:creationId xmlns:a16="http://schemas.microsoft.com/office/drawing/2014/main" id="{7D98CD34-2244-52CE-088F-8DB122893F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5867" y="4343132"/>
            <a:ext cx="1031592" cy="1019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DAB244-9295-8447-31C5-AD3B6240D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0542" y="6486065"/>
            <a:ext cx="591458" cy="424543"/>
          </a:xfrm>
        </p:spPr>
        <p:txBody>
          <a:bodyPr/>
          <a:lstStyle/>
          <a:p>
            <a:fld id="{330EA680-D336-4FF7-8B7A-9848BB0A1C32}" type="slidenum">
              <a:rPr lang="en-US" sz="1600" b="1" smtClean="0">
                <a:solidFill>
                  <a:schemeClr val="tx1"/>
                </a:solidFill>
              </a:rPr>
              <a:t>1</a:t>
            </a:fld>
            <a:endParaRPr lang="en-US" sz="1800" b="1" dirty="0">
              <a:solidFill>
                <a:schemeClr val="tx1"/>
              </a:solidFill>
            </a:endParaRPr>
          </a:p>
        </p:txBody>
      </p:sp>
      <p:pic>
        <p:nvPicPr>
          <p:cNvPr id="1032" name="Picture 8" descr="York College Now STEM Research Academy - NYC Science ...">
            <a:extLst>
              <a:ext uri="{FF2B5EF4-FFF2-40B4-BE49-F238E27FC236}">
                <a16:creationId xmlns:a16="http://schemas.microsoft.com/office/drawing/2014/main" id="{038D972C-AFD3-402D-245D-D43EA65A38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3038" y="5447642"/>
            <a:ext cx="2721744" cy="15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white sphere with black lines and a black circle with a black line&#10;&#10;AI-generated content may be incorrect.">
            <a:extLst>
              <a:ext uri="{FF2B5EF4-FFF2-40B4-BE49-F238E27FC236}">
                <a16:creationId xmlns:a16="http://schemas.microsoft.com/office/drawing/2014/main" id="{82149F4D-24DB-6BD3-3E30-5B0E3F6163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9284" y="1775351"/>
            <a:ext cx="4267071" cy="2641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AF46B-2BB1-C2CB-26BD-F90E46F86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52413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400BB-0FC7-A7A8-0DB1-EE95DDF5C1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85" y="3429000"/>
            <a:ext cx="12017829" cy="330464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Two approaches being explored:</a:t>
            </a:r>
            <a:endParaRPr lang="en-US" b="1" dirty="0">
              <a:effectLst/>
            </a:endParaRPr>
          </a:p>
          <a:p>
            <a:pPr fontAlgn="base"/>
            <a:r>
              <a:rPr lang="en-US" dirty="0"/>
              <a:t>Using </a:t>
            </a:r>
            <a:r>
              <a:rPr lang="en-US" dirty="0" err="1"/>
              <a:t>XGBoost's</a:t>
            </a:r>
            <a:r>
              <a:rPr lang="en-US" dirty="0"/>
              <a:t> native C++ API to load the JSON file directly</a:t>
            </a:r>
          </a:p>
          <a:p>
            <a:pPr fontAlgn="base"/>
            <a:r>
              <a:rPr lang="en-US" dirty="0"/>
              <a:t>Using Sam Grant's TMVA RBDT method: exports the </a:t>
            </a:r>
            <a:r>
              <a:rPr lang="en-US" dirty="0" err="1"/>
              <a:t>XGBoost</a:t>
            </a:r>
            <a:r>
              <a:rPr lang="en-US" dirty="0"/>
              <a:t> model as a plain text file, which the Mu2e Offline framework can load directly at runtime</a:t>
            </a:r>
          </a:p>
          <a:p>
            <a:pPr marL="0" indent="0" fontAlgn="base">
              <a:buNone/>
            </a:pPr>
            <a:r>
              <a:rPr lang="en-US" dirty="0"/>
              <a:t> </a:t>
            </a:r>
          </a:p>
          <a:p>
            <a:pPr fontAlgn="base"/>
            <a:r>
              <a:rPr lang="en-US" b="1" dirty="0"/>
              <a:t>Next step: </a:t>
            </a:r>
            <a:r>
              <a:rPr lang="en-US" dirty="0"/>
              <a:t>Implement one of these approaches to complete a fully sustainable retraining workflow</a:t>
            </a:r>
            <a:endParaRPr lang="en-US" b="0" dirty="0">
              <a:effectLst/>
            </a:endParaRP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395184-DC54-B9B1-A56D-572F3DAFA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A0AEB16C-2B93-D545-BD36-55C8E1026307}" type="slidenum">
              <a:rPr lang="en-US" sz="1800" b="1" smtClean="0">
                <a:solidFill>
                  <a:schemeClr val="tx1"/>
                </a:solidFill>
              </a:rPr>
              <a:t>2</a:t>
            </a:fld>
            <a:endParaRPr lang="en-US" sz="2000" b="1" dirty="0">
              <a:solidFill>
                <a:schemeClr val="tx1"/>
              </a:solidFill>
            </a:endParaRP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3596E01C-2409-B66F-9F33-A6A3045132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62881322"/>
              </p:ext>
            </p:extLst>
          </p:nvPr>
        </p:nvGraphicFramePr>
        <p:xfrm>
          <a:off x="978947" y="865987"/>
          <a:ext cx="10374855" cy="208160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74971">
                  <a:extLst>
                    <a:ext uri="{9D8B030D-6E8A-4147-A177-3AD203B41FA5}">
                      <a16:colId xmlns:a16="http://schemas.microsoft.com/office/drawing/2014/main" val="3765884438"/>
                    </a:ext>
                  </a:extLst>
                </a:gridCol>
                <a:gridCol w="2074971">
                  <a:extLst>
                    <a:ext uri="{9D8B030D-6E8A-4147-A177-3AD203B41FA5}">
                      <a16:colId xmlns:a16="http://schemas.microsoft.com/office/drawing/2014/main" val="1992000950"/>
                    </a:ext>
                  </a:extLst>
                </a:gridCol>
                <a:gridCol w="2074971">
                  <a:extLst>
                    <a:ext uri="{9D8B030D-6E8A-4147-A177-3AD203B41FA5}">
                      <a16:colId xmlns:a16="http://schemas.microsoft.com/office/drawing/2014/main" val="1019496497"/>
                    </a:ext>
                  </a:extLst>
                </a:gridCol>
                <a:gridCol w="2074971">
                  <a:extLst>
                    <a:ext uri="{9D8B030D-6E8A-4147-A177-3AD203B41FA5}">
                      <a16:colId xmlns:a16="http://schemas.microsoft.com/office/drawing/2014/main" val="3487166556"/>
                    </a:ext>
                  </a:extLst>
                </a:gridCol>
                <a:gridCol w="2074971">
                  <a:extLst>
                    <a:ext uri="{9D8B030D-6E8A-4147-A177-3AD203B41FA5}">
                      <a16:colId xmlns:a16="http://schemas.microsoft.com/office/drawing/2014/main" val="4228626076"/>
                    </a:ext>
                  </a:extLst>
                </a:gridCol>
              </a:tblGrid>
              <a:tr h="70546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Training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Processing New Dataset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0193236"/>
                  </a:ext>
                </a:extLst>
              </a:tr>
              <a:tr h="6880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ANN1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46.2s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41s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0559336"/>
                  </a:ext>
                </a:extLst>
              </a:tr>
              <a:tr h="6880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BDT1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1.81s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3.44s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2532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1914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72709-38AB-949B-F810-05A85B3B7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3308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dirty="0"/>
              <a:t>Feature Importance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0FDBB4-7E5B-141B-943F-07A2BAE78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1978" y="6492875"/>
            <a:ext cx="460022" cy="365125"/>
          </a:xfrm>
        </p:spPr>
        <p:txBody>
          <a:bodyPr/>
          <a:lstStyle/>
          <a:p>
            <a:fld id="{A1594E53-19E5-B046-8ACC-D856D0AEAC9A}" type="slidenum">
              <a:rPr lang="en-US" sz="1600" b="1">
                <a:solidFill>
                  <a:schemeClr val="tx1"/>
                </a:solidFill>
              </a:rPr>
              <a:t>3</a:t>
            </a:fld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CD0C52-4A53-5742-F1D2-3835293D9433}"/>
              </a:ext>
            </a:extLst>
          </p:cNvPr>
          <p:cNvSpPr txBox="1"/>
          <p:nvPr/>
        </p:nvSpPr>
        <p:spPr>
          <a:xfrm>
            <a:off x="0" y="855412"/>
            <a:ext cx="5588000" cy="51471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It measures how heavily the </a:t>
            </a:r>
            <a:r>
              <a:rPr lang="en-US" sz="2000" dirty="0" err="1"/>
              <a:t>XGBoost</a:t>
            </a:r>
            <a:r>
              <a:rPr lang="en-US" sz="2000" dirty="0"/>
              <a:t> model relies on each feature to separate clean signal tracks from background.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sz="2000" dirty="0" err="1"/>
              <a:t>Momerr</a:t>
            </a:r>
            <a:r>
              <a:rPr lang="en-US" sz="2000" dirty="0"/>
              <a:t> (momentum error) heavily dominates the BDT classifier decisions, scoring over three times higher than any other feature..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High reliance on </a:t>
            </a:r>
            <a:r>
              <a:rPr lang="en-US" sz="2000" dirty="0" err="1"/>
              <a:t>momerr</a:t>
            </a:r>
            <a:r>
              <a:rPr lang="en-US" sz="2000" dirty="0"/>
              <a:t> means even minor calibration drifts significantly impact track discrimination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2000" dirty="0"/>
              <a:t>This study focuses on </a:t>
            </a:r>
            <a:r>
              <a:rPr lang="en-US" sz="2000" dirty="0" err="1"/>
              <a:t>momerr</a:t>
            </a:r>
            <a:r>
              <a:rPr lang="en-US" sz="2000" dirty="0"/>
              <a:t> to test the BDT's limits and ensure performance remains stable across different datasets.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BB25F1-BBCC-439B-F572-724FF2218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4984" y="855412"/>
            <a:ext cx="6817016" cy="45293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68A876E-D346-C8EE-DFE8-4A35CDD92D03}"/>
              </a:ext>
            </a:extLst>
          </p:cNvPr>
          <p:cNvSpPr txBox="1"/>
          <p:nvPr/>
        </p:nvSpPr>
        <p:spPr>
          <a:xfrm>
            <a:off x="193637" y="6002588"/>
            <a:ext cx="11804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One Caveat:  </a:t>
            </a:r>
            <a:r>
              <a:rPr lang="en-US" dirty="0"/>
              <a:t>We</a:t>
            </a:r>
            <a:r>
              <a:rPr lang="en-US" b="1" dirty="0"/>
              <a:t> </a:t>
            </a:r>
            <a:r>
              <a:rPr lang="en-US" dirty="0"/>
              <a:t>are changing just one feature here and that in reality we might have more features that look different.</a:t>
            </a:r>
          </a:p>
        </p:txBody>
      </p:sp>
    </p:spTree>
    <p:extLst>
      <p:ext uri="{BB962C8B-B14F-4D97-AF65-F5344CB8AC3E}">
        <p14:creationId xmlns:p14="http://schemas.microsoft.com/office/powerpoint/2010/main" val="3526579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CD386-B0CD-4C84-6961-23ADF2382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966" y="-66315"/>
            <a:ext cx="11286067" cy="880533"/>
          </a:xfrm>
        </p:spPr>
        <p:txBody>
          <a:bodyPr/>
          <a:lstStyle/>
          <a:p>
            <a:r>
              <a:rPr lang="en-US" dirty="0"/>
              <a:t>Increasing &amp; Decreasing </a:t>
            </a:r>
            <a:r>
              <a:rPr lang="en-US" dirty="0" err="1"/>
              <a:t>Momerr</a:t>
            </a:r>
            <a:r>
              <a:rPr lang="en-US" dirty="0"/>
              <a:t> Column By 10%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C56F1A-2459-A2CF-43A2-3CDDDDC25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42047" y="6491113"/>
            <a:ext cx="324555" cy="377119"/>
          </a:xfrm>
        </p:spPr>
        <p:txBody>
          <a:bodyPr/>
          <a:lstStyle/>
          <a:p>
            <a:fld id="{A1594E53-19E5-B046-8ACC-D856D0AEAC9A}" type="slidenum">
              <a:rPr lang="en-US" sz="1600" b="1" smtClean="0">
                <a:solidFill>
                  <a:schemeClr val="tx1"/>
                </a:solidFill>
              </a:rPr>
              <a:t>4</a:t>
            </a:fld>
            <a:endParaRPr lang="en-US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6175FD8-1C7E-438E-5F4A-FCB7B36A8554}"/>
                  </a:ext>
                </a:extLst>
              </p:cNvPr>
              <p:cNvSpPr txBox="1"/>
              <p:nvPr/>
            </p:nvSpPr>
            <p:spPr>
              <a:xfrm>
                <a:off x="-1" y="814218"/>
                <a:ext cx="4410635" cy="40093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Scaled the momentum error feature (</a:t>
                </a:r>
                <a:r>
                  <a:rPr lang="en-US" dirty="0" err="1"/>
                  <a:t>trk_ent.momerr</a:t>
                </a:r>
                <a:r>
                  <a:rPr lang="en-US" dirty="0"/>
                  <a:t>) by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𝟏𝟎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to test the BDT's resilience.</a:t>
                </a:r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 err="1"/>
                  <a:t>momerr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𝟏𝟎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b="1" dirty="0"/>
                  <a:t>:</a:t>
                </a:r>
                <a:r>
                  <a:rPr lang="en-US" dirty="0"/>
                  <a:t> Triggers a negative mean score shift (</a:t>
                </a:r>
                <a:r>
                  <a:rPr lang="en-US" b="1" dirty="0"/>
                  <a:t>-0.024</a:t>
                </a:r>
                <a:r>
                  <a:rPr lang="en-US" dirty="0"/>
                  <a:t>), causing </a:t>
                </a:r>
                <a:r>
                  <a:rPr lang="en-US" b="1" dirty="0"/>
                  <a:t>12,610 real signal tracks</a:t>
                </a:r>
                <a:r>
                  <a:rPr lang="en-US" dirty="0"/>
                  <a:t> to migrate downward and fail the cut.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 err="1"/>
                  <a:t>momerr</a:t>
                </a:r>
                <a:r>
                  <a:rPr lang="en-US" b="1" dirty="0"/>
                  <a:t> -</a:t>
                </a:r>
                <a:r>
                  <a:rPr lang="en-US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𝟏𝟎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b="1" dirty="0"/>
                  <a:t>:</a:t>
                </a:r>
                <a:r>
                  <a:rPr lang="en-US" dirty="0"/>
                  <a:t> Triggers a positive mean score shift (</a:t>
                </a:r>
                <a:r>
                  <a:rPr lang="en-US" b="1" dirty="0"/>
                  <a:t>+0.024</a:t>
                </a:r>
                <a:r>
                  <a:rPr lang="en-US" dirty="0"/>
                  <a:t>), artificially promoting </a:t>
                </a:r>
                <a:r>
                  <a:rPr lang="en-US" b="1" dirty="0"/>
                  <a:t>13,159 tracks</a:t>
                </a:r>
                <a:r>
                  <a:rPr lang="en-US" dirty="0"/>
                  <a:t> upward across the threshold.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6175FD8-1C7E-438E-5F4A-FCB7B36A85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814218"/>
                <a:ext cx="4410635" cy="4009368"/>
              </a:xfrm>
              <a:prstGeom prst="rect">
                <a:avLst/>
              </a:prstGeom>
              <a:blipFill>
                <a:blip r:embed="rId2"/>
                <a:stretch>
                  <a:fillRect l="-862" t="-949" r="-1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21954DAD-A1BC-8B30-0D29-55208DD773D2}"/>
              </a:ext>
            </a:extLst>
          </p:cNvPr>
          <p:cNvSpPr txBox="1"/>
          <p:nvPr/>
        </p:nvSpPr>
        <p:spPr>
          <a:xfrm>
            <a:off x="25397" y="5329425"/>
            <a:ext cx="12001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These minor shifts force ~13,000 signal tracks to flip status, causing a 4.2% fluctuation in overall signal acceptance.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Despite the signal fluctuation, background contamination remains successfully suppressed at ≤ 53 tracks.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1E94D5-F2C8-7B91-8070-5093077C16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4776" y="677732"/>
            <a:ext cx="7817223" cy="4690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005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D57A2-9754-1937-6725-792CE581A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594" y="-180011"/>
            <a:ext cx="11456812" cy="982133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Increasing &amp; Decreasing </a:t>
            </a:r>
            <a:r>
              <a:rPr lang="en-US" sz="4800" dirty="0" err="1"/>
              <a:t>Momerr</a:t>
            </a:r>
            <a:r>
              <a:rPr lang="en-US" sz="4800" dirty="0"/>
              <a:t> Column By 50%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673190-EBBE-79CD-8C57-A40C7813F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24406" y="6492875"/>
            <a:ext cx="367594" cy="365125"/>
          </a:xfrm>
        </p:spPr>
        <p:txBody>
          <a:bodyPr/>
          <a:lstStyle/>
          <a:p>
            <a:fld id="{A1594E53-19E5-B046-8ACC-D856D0AEAC9A}" type="slidenum">
              <a:rPr lang="en-US" sz="1600" b="1" smtClean="0">
                <a:solidFill>
                  <a:schemeClr val="tx1"/>
                </a:solidFill>
              </a:rPr>
              <a:t>5</a:t>
            </a:fld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9A5348-2463-6ADF-F76D-FA19824B71DC}"/>
              </a:ext>
            </a:extLst>
          </p:cNvPr>
          <p:cNvSpPr txBox="1"/>
          <p:nvPr/>
        </p:nvSpPr>
        <p:spPr>
          <a:xfrm>
            <a:off x="0" y="1488633"/>
            <a:ext cx="4238513" cy="28789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Evaluated BDT stability under severe </a:t>
            </a:r>
            <a:r>
              <a:rPr lang="en-US" b="1" dirty="0"/>
              <a:t>±50% </a:t>
            </a:r>
            <a:r>
              <a:rPr lang="en-US" dirty="0" err="1"/>
              <a:t>momerr</a:t>
            </a:r>
            <a:r>
              <a:rPr lang="en-US" dirty="0"/>
              <a:t> perturbations to identify the model's operational limits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Under the original cut (0.92), an extreme shift forces </a:t>
            </a:r>
            <a:r>
              <a:rPr lang="en-US" b="1" dirty="0"/>
              <a:t>about 20% of the entire signal sample</a:t>
            </a:r>
            <a:r>
              <a:rPr lang="en-US" dirty="0"/>
              <a:t> to flip its pass/fail status across the fixed threshold (58,022 tracks for +50% and 67,903 tracks for -50%).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9A5F57-D397-FD04-030C-65697D667BC4}"/>
              </a:ext>
            </a:extLst>
          </p:cNvPr>
          <p:cNvSpPr txBox="1"/>
          <p:nvPr/>
        </p:nvSpPr>
        <p:spPr>
          <a:xfrm>
            <a:off x="0" y="5267416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While background leakage remained negligible at lower variations, the </a:t>
            </a:r>
            <a:r>
              <a:rPr lang="en-US" dirty="0" err="1"/>
              <a:t>momerr</a:t>
            </a:r>
            <a:r>
              <a:rPr lang="en-US" dirty="0"/>
              <a:t> -50% case leaks 698 fake tracks into the signal region. This reveals that the background rejection boundary begins to soften under extreme optimistic scale factors.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09EA5F-267D-9582-80E5-A810AC36B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0541" y="667254"/>
            <a:ext cx="8038737" cy="4476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765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00AC4-16B6-1410-C0A9-AF151B390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48920"/>
            <a:ext cx="10515600" cy="875066"/>
          </a:xfrm>
        </p:spPr>
        <p:txBody>
          <a:bodyPr>
            <a:normAutofit/>
          </a:bodyPr>
          <a:lstStyle/>
          <a:p>
            <a:pPr algn="ctr"/>
            <a:r>
              <a:rPr lang="en-US" sz="4800" dirty="0"/>
              <a:t>Is BDT score at 0.92 the right choice?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67BF-1377-C7C9-18AF-30E1C40A6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8178" y="6492875"/>
            <a:ext cx="383822" cy="365125"/>
          </a:xfrm>
        </p:spPr>
        <p:txBody>
          <a:bodyPr/>
          <a:lstStyle/>
          <a:p>
            <a:fld id="{A1594E53-19E5-B046-8ACC-D856D0AEAC9A}" type="slidenum">
              <a:rPr lang="en-US" sz="1600" b="1" smtClean="0">
                <a:solidFill>
                  <a:schemeClr val="tx1"/>
                </a:solidFill>
              </a:rPr>
              <a:t>6</a:t>
            </a:fld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133508-E565-89F2-801F-F34EB276A4EE}"/>
              </a:ext>
            </a:extLst>
          </p:cNvPr>
          <p:cNvSpPr txBox="1"/>
          <p:nvPr/>
        </p:nvSpPr>
        <p:spPr>
          <a:xfrm>
            <a:off x="0" y="1533098"/>
            <a:ext cx="399626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Static 0.92 cuts cause signal to fluctuate  and background to leak.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Transitioning to adaptive cuts successfully stabilizes the physics. The threshold dynamically scales to keep the ultimate background contamination completely locked to a negligible number (≤ 51 tracks).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43AF36-BE91-5F5F-5452-DC81B15FC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7030" y="726147"/>
            <a:ext cx="8154970" cy="4482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39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19844F-9B49-D1A8-E506-457C8AA22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2104" y="6492875"/>
            <a:ext cx="519896" cy="365125"/>
          </a:xfrm>
        </p:spPr>
        <p:txBody>
          <a:bodyPr/>
          <a:lstStyle/>
          <a:p>
            <a:fld id="{A1594E53-19E5-B046-8ACC-D856D0AEAC9A}" type="slidenum">
              <a:rPr lang="en-US" sz="1600" b="1" smtClean="0">
                <a:solidFill>
                  <a:schemeClr val="tx1"/>
                </a:solidFill>
              </a:rPr>
              <a:t>7</a:t>
            </a:fld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35AA1C-D157-52C3-573F-88FF570A8CD4}"/>
              </a:ext>
            </a:extLst>
          </p:cNvPr>
          <p:cNvSpPr txBox="1"/>
          <p:nvPr/>
        </p:nvSpPr>
        <p:spPr>
          <a:xfrm>
            <a:off x="1" y="5104424"/>
            <a:ext cx="1229599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Left Panel (Static Cut): </a:t>
            </a:r>
            <a:r>
              <a:rPr lang="en-US" dirty="0"/>
              <a:t>Keeping a fixed BDT cut at 0.92 across all datasets causes our performance to scatter all over the place. A pessimistic error drops our signal efficiency down to 37.9%, while an optimistic shift destroys our background rejection, letting in too many background tracks (only 93.67% background rejection).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Right Panel (Dynamic Cut): </a:t>
            </a:r>
            <a:r>
              <a:rPr lang="en-US" dirty="0"/>
              <a:t>By adjusting the BDT cut dynamically for each perturbation, we completely stabilize the model. This successfully retain our background rejection to a perfectly flat, safe line at exactly 99.0%, regardless of the severity of the </a:t>
            </a:r>
            <a:r>
              <a:rPr lang="en-US" dirty="0" err="1"/>
              <a:t>momerr</a:t>
            </a:r>
            <a:r>
              <a:rPr lang="en-US" dirty="0"/>
              <a:t> shift.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3B0639C-1165-5625-B5A8-FA18BA9F2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9134" cy="510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606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7D28EE-5667-117A-704E-986F2E742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A1594E53-19E5-B046-8ACC-D856D0AEAC9A}" type="slidenum">
              <a:rPr lang="en-US" sz="1600" b="1" smtClean="0">
                <a:solidFill>
                  <a:schemeClr val="tx1"/>
                </a:solidFill>
              </a:rPr>
              <a:t>8</a:t>
            </a:fld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B321EB-61E3-2B4B-4EBF-79EDD5A66BD0}"/>
              </a:ext>
            </a:extLst>
          </p:cNvPr>
          <p:cNvSpPr txBox="1"/>
          <p:nvPr/>
        </p:nvSpPr>
        <p:spPr>
          <a:xfrm>
            <a:off x="0" y="4456069"/>
            <a:ext cx="1218700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Features Plotted:</a:t>
            </a:r>
            <a:r>
              <a:rPr lang="en-US" dirty="0"/>
              <a:t> Shows the raw distribution of our most dominant BDT feature, </a:t>
            </a:r>
            <a:r>
              <a:rPr lang="en-US" b="1" dirty="0" err="1"/>
              <a:t>momerr</a:t>
            </a:r>
            <a:r>
              <a:rPr lang="en-US" b="1" dirty="0"/>
              <a:t> (momentum error)</a:t>
            </a:r>
            <a:r>
              <a:rPr lang="en-US" dirty="0"/>
              <a:t>, across the full dataset (N = 317,439).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Modifying the scale factor dynamically alters the feature shape, smoothly shifting the entire tracking population along the x-axis.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+50% shift (orange) severely broadens the long background tail, while a -50% shift (dark blue) compresses everything tightly toward zero.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2BAF21B-C03D-6149-5A1E-C1CC854AA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21" y="0"/>
            <a:ext cx="11897957" cy="4429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947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285369-4210-18FF-8CF9-A8DB42BD0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A1594E53-19E5-B046-8ACC-D856D0AEAC9A}" type="slidenum">
              <a:rPr lang="en-US" sz="1600" b="1" smtClean="0">
                <a:solidFill>
                  <a:schemeClr val="tx1"/>
                </a:solidFill>
              </a:rPr>
              <a:t>9</a:t>
            </a:fld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10C2D1-AC5F-0BC0-9C37-12D531C76B70}"/>
              </a:ext>
            </a:extLst>
          </p:cNvPr>
          <p:cNvSpPr txBox="1"/>
          <p:nvPr/>
        </p:nvSpPr>
        <p:spPr>
          <a:xfrm>
            <a:off x="103542" y="4549676"/>
            <a:ext cx="120884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Panel A: Keeping a rigid BDT cut at 0.92 forces our physics sample to fluctuate wildly, throwing away thousands of good signal tracks or leaking massive background into the resolution tails.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Panel B: Adjusting the BDT threshold dynamically for each dataset completely fixes the spread, onto a single stable shape.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side-by-side comparison visually proves that an adaptive BDT cut successfully insulates our data sample’s purity and stability from any background leakage.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06F35DC-5A69-E478-810E-DA488CC94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42" y="0"/>
            <a:ext cx="11761080" cy="4549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125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2CDCD-F2D7-A7A6-9C2F-32489D64F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7" y="-146483"/>
            <a:ext cx="10515600" cy="1009651"/>
          </a:xfrm>
        </p:spPr>
        <p:txBody>
          <a:bodyPr>
            <a:normAutofit/>
          </a:bodyPr>
          <a:lstStyle/>
          <a:p>
            <a:pPr algn="ctr"/>
            <a:r>
              <a:rPr lang="en-US" sz="6000" dirty="0"/>
              <a:t>Summary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757D25-3575-9CC2-8B86-2F3DA78C8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A1594E53-19E5-B046-8ACC-D856D0AEAC9A}" type="slidenum">
              <a:rPr lang="en-US" sz="1600" b="1" smtClean="0">
                <a:solidFill>
                  <a:schemeClr val="tx1"/>
                </a:solidFill>
              </a:rPr>
              <a:t>10</a:t>
            </a:fld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07EDB7-6929-14FF-3981-26886BA4CCEB}"/>
              </a:ext>
            </a:extLst>
          </p:cNvPr>
          <p:cNvSpPr txBox="1"/>
          <p:nvPr/>
        </p:nvSpPr>
        <p:spPr>
          <a:xfrm>
            <a:off x="0" y="731571"/>
            <a:ext cx="12192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Evaluated BDT resilience against significant </a:t>
            </a:r>
            <a:r>
              <a:rPr lang="en-US" dirty="0" err="1"/>
              <a:t>momerr</a:t>
            </a:r>
            <a:r>
              <a:rPr lang="en-US" dirty="0"/>
              <a:t> perturbations to ensure stable track classification across unseen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Fixed thresholds (0.92) are unsustainable under feature drift, resulting in either massive signal loss or severe background contamination.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Implementing dynamic thresholds successfully restores model stability, locking performance metrics to the original baseline regardless of the perturbation.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suggests that, for future datasets, identifying the optimal adaptive BDT cut is the essential step to maintaining data purity and operational reliability.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6AD2BE-8F44-35F4-8C06-9F1A091A69F9}"/>
              </a:ext>
            </a:extLst>
          </p:cNvPr>
          <p:cNvSpPr txBox="1"/>
          <p:nvPr/>
        </p:nvSpPr>
        <p:spPr>
          <a:xfrm>
            <a:off x="3777724" y="3858406"/>
            <a:ext cx="46365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Questions!</a:t>
            </a:r>
          </a:p>
        </p:txBody>
      </p:sp>
    </p:spTree>
    <p:extLst>
      <p:ext uri="{BB962C8B-B14F-4D97-AF65-F5344CB8AC3E}">
        <p14:creationId xmlns:p14="http://schemas.microsoft.com/office/powerpoint/2010/main" val="1977755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1101</TotalTime>
  <Words>850</Words>
  <Application>Microsoft Macintosh PowerPoint</Application>
  <PresentationFormat>Widescreen</PresentationFormat>
  <Paragraphs>87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Office Theme</vt:lpstr>
      <vt:lpstr>Testing the BDT model’s ability to classify tracks across perturbed datasets </vt:lpstr>
      <vt:lpstr>Next Steps</vt:lpstr>
      <vt:lpstr>Feature Importance </vt:lpstr>
      <vt:lpstr>Increasing &amp; Decreasing Momerr Column By 10%</vt:lpstr>
      <vt:lpstr>Increasing &amp; Decreasing Momerr Column By 50%</vt:lpstr>
      <vt:lpstr>Is BDT score at 0.92 the right choice?</vt:lpstr>
      <vt:lpstr>PowerPoint Presentation</vt:lpstr>
      <vt:lpstr>PowerPoint Presentation</vt:lpstr>
      <vt:lpstr>PowerPoint Presentation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MALIK M FAROUH</dc:creator>
  <cp:lastModifiedBy>MALIK M FAROUH</cp:lastModifiedBy>
  <cp:revision>14</cp:revision>
  <dcterms:created xsi:type="dcterms:W3CDTF">2026-06-01T13:29:17Z</dcterms:created>
  <dcterms:modified xsi:type="dcterms:W3CDTF">2026-07-20T10:44:50Z</dcterms:modified>
</cp:coreProperties>
</file>